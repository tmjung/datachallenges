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6" r:id="rId5"/>
    <p:sldId id="258" r:id="rId6"/>
    <p:sldId id="259" r:id="rId7"/>
    <p:sldId id="269" r:id="rId8"/>
    <p:sldId id="270" r:id="rId9"/>
    <p:sldId id="271" r:id="rId10"/>
    <p:sldId id="267" r:id="rId11"/>
    <p:sldId id="268" r:id="rId12"/>
    <p:sldId id="273" r:id="rId13"/>
    <p:sldId id="272" r:id="rId14"/>
    <p:sldId id="274" r:id="rId15"/>
    <p:sldId id="275" r:id="rId16"/>
    <p:sldId id="276" r:id="rId17"/>
    <p:sldId id="277" r:id="rId18"/>
    <p:sldId id="261" r:id="rId19"/>
    <p:sldId id="262" r:id="rId20"/>
    <p:sldId id="264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42A3E6-7E3F-8804-D76B-8DD7C32A6F48}" v="361" dt="2026-07-06T13:36:05.3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82" d="100"/>
          <a:sy n="82" d="100"/>
        </p:scale>
        <p:origin x="5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6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0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0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08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20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692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88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8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920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995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B3054-B75A-4BD7-8B3E-8DC0F614FAF3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7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698172"/>
            <a:ext cx="9144000" cy="1845923"/>
          </a:xfrm>
        </p:spPr>
        <p:txBody>
          <a:bodyPr>
            <a:normAutofit fontScale="90000"/>
          </a:bodyPr>
          <a:lstStyle/>
          <a:p>
            <a:r>
              <a:rPr lang="de-DE"/>
              <a:t>Data Challenges</a:t>
            </a:r>
            <a:br>
              <a:rPr lang="de-DE" dirty="0"/>
            </a:br>
            <a:r>
              <a:rPr lang="de-DE"/>
              <a:t>-</a:t>
            </a:r>
            <a:br>
              <a:rPr lang="de-DE" dirty="0"/>
            </a:br>
            <a:r>
              <a:rPr lang="de-DE"/>
              <a:t>Abschlusspräsentation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4115222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ko-KR">
                <a:ea typeface="맑은 고딕"/>
              </a:rPr>
              <a:t>5217982 - Toni </a:t>
            </a:r>
            <a:r>
              <a:rPr lang="ko-KR" altLang="ko-KR" dirty="0">
                <a:ea typeface="맑은 고딕"/>
              </a:rPr>
              <a:t>Jungbeck</a:t>
            </a:r>
            <a:endParaRPr lang="de-DE">
              <a:ea typeface="맑은 고딕"/>
            </a:endParaRPr>
          </a:p>
          <a:p>
            <a:r>
              <a:rPr lang="de-DE" dirty="0"/>
              <a:t>8528087 - </a:t>
            </a:r>
            <a:r>
              <a:rPr lang="de-DE" dirty="0" err="1"/>
              <a:t>Bonju</a:t>
            </a:r>
            <a:r>
              <a:rPr lang="de-DE" dirty="0"/>
              <a:t> Koo</a:t>
            </a:r>
          </a:p>
        </p:txBody>
      </p:sp>
      <p:pic>
        <p:nvPicPr>
          <p:cNvPr id="4" name="그림 3" descr="Datei:Goethe-Logo.svg">
            <a:extLst>
              <a:ext uri="{FF2B5EF4-FFF2-40B4-BE49-F238E27FC236}">
                <a16:creationId xmlns:a16="http://schemas.microsoft.com/office/drawing/2014/main" id="{98BEFAA7-3947-1298-6C11-A93D2D1EA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005256-8DC1-7F2A-C5EC-C5FB0A961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Thema: </a:t>
            </a:r>
            <a:r>
              <a:rPr lang="de-DE" altLang="ko-KR" dirty="0" err="1"/>
              <a:t>Predictive</a:t>
            </a:r>
            <a:r>
              <a:rPr lang="de-DE" altLang="ko-KR" dirty="0"/>
              <a:t> Modelling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A50ED0-0AF3-C877-9996-EC91EB80E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Forschungsfrage</a:t>
            </a:r>
            <a:r>
              <a:rPr lang="en-US" altLang="ko-KR" dirty="0"/>
              <a:t>: </a:t>
            </a:r>
            <a:r>
              <a:rPr lang="ko-KR" altLang="ko-KR" dirty="0" err="1"/>
              <a:t>Welche</a:t>
            </a:r>
            <a:r>
              <a:rPr lang="ko-KR" altLang="ko-KR" dirty="0"/>
              <a:t> </a:t>
            </a:r>
            <a:r>
              <a:rPr lang="ko-KR" altLang="ko-KR" dirty="0" err="1"/>
              <a:t>Umwelt</a:t>
            </a:r>
            <a:r>
              <a:rPr lang="ko-KR" altLang="ko-KR" dirty="0"/>
              <a:t>-, </a:t>
            </a:r>
            <a:r>
              <a:rPr lang="ko-KR" altLang="ko-KR" dirty="0" err="1"/>
              <a:t>Klima</a:t>
            </a:r>
            <a:r>
              <a:rPr lang="ko-KR" altLang="ko-KR" dirty="0"/>
              <a:t>- </a:t>
            </a:r>
            <a:r>
              <a:rPr lang="ko-KR" altLang="ko-KR" dirty="0" err="1"/>
              <a:t>und</a:t>
            </a:r>
            <a:r>
              <a:rPr lang="ko-KR" altLang="ko-KR" dirty="0"/>
              <a:t> </a:t>
            </a:r>
            <a:r>
              <a:rPr lang="ko-KR" altLang="ko-KR" dirty="0" err="1"/>
              <a:t>Bodenfaktoren</a:t>
            </a:r>
            <a:r>
              <a:rPr lang="ko-KR" altLang="ko-KR" dirty="0"/>
              <a:t> </a:t>
            </a:r>
            <a:r>
              <a:rPr lang="ko-KR" altLang="ko-KR" dirty="0" err="1"/>
              <a:t>beeinflussen</a:t>
            </a:r>
            <a:r>
              <a:rPr lang="ko-KR" altLang="ko-KR" dirty="0"/>
              <a:t> </a:t>
            </a:r>
            <a:r>
              <a:rPr lang="ko-KR" altLang="ko-KR" dirty="0" err="1"/>
              <a:t>die</a:t>
            </a:r>
            <a:r>
              <a:rPr lang="ko-KR" altLang="ko-KR" dirty="0"/>
              <a:t> </a:t>
            </a:r>
            <a:r>
              <a:rPr lang="ko-KR" altLang="ko-KR" dirty="0" err="1"/>
              <a:t>Lage</a:t>
            </a:r>
            <a:r>
              <a:rPr lang="ko-KR" altLang="ko-KR" dirty="0"/>
              <a:t> </a:t>
            </a:r>
            <a:r>
              <a:rPr lang="ko-KR" altLang="ko-KR" dirty="0" err="1"/>
              <a:t>eisenzeitlicher</a:t>
            </a:r>
            <a:r>
              <a:rPr lang="ko-KR" altLang="ko-KR" dirty="0"/>
              <a:t> </a:t>
            </a:r>
            <a:r>
              <a:rPr lang="ko-KR" altLang="ko-KR" dirty="0" err="1"/>
              <a:t>Fundorte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Bayern</a:t>
            </a:r>
            <a:r>
              <a:rPr lang="ko-KR" altLang="ko-KR" dirty="0"/>
              <a:t>, </a:t>
            </a:r>
            <a:r>
              <a:rPr lang="ko-KR" altLang="ko-KR" dirty="0" err="1"/>
              <a:t>und</a:t>
            </a:r>
            <a:r>
              <a:rPr lang="ko-KR" altLang="ko-KR" dirty="0"/>
              <a:t> </a:t>
            </a:r>
            <a:r>
              <a:rPr lang="ko-KR" altLang="ko-KR" dirty="0" err="1"/>
              <a:t>können</a:t>
            </a:r>
            <a:r>
              <a:rPr lang="ko-KR" altLang="ko-KR" dirty="0"/>
              <a:t> </a:t>
            </a:r>
            <a:r>
              <a:rPr lang="ko-KR" altLang="ko-KR" dirty="0" err="1"/>
              <a:t>daraus</a:t>
            </a:r>
            <a:r>
              <a:rPr lang="ko-KR" altLang="ko-KR" dirty="0"/>
              <a:t> </a:t>
            </a:r>
            <a:r>
              <a:rPr lang="ko-KR" altLang="ko-KR" dirty="0" err="1"/>
              <a:t>bisher</a:t>
            </a:r>
            <a:r>
              <a:rPr lang="ko-KR" altLang="ko-KR" dirty="0"/>
              <a:t> </a:t>
            </a:r>
            <a:r>
              <a:rPr lang="ko-KR" altLang="ko-KR" dirty="0" err="1"/>
              <a:t>unbekannte</a:t>
            </a:r>
            <a:r>
              <a:rPr lang="ko-KR" altLang="ko-KR" dirty="0"/>
              <a:t> </a:t>
            </a:r>
            <a:r>
              <a:rPr lang="ko-KR" altLang="ko-KR" dirty="0" err="1"/>
              <a:t>Fundortwahrscheinlichkeiten</a:t>
            </a:r>
            <a:r>
              <a:rPr lang="ko-KR" altLang="ko-KR" dirty="0"/>
              <a:t> </a:t>
            </a:r>
            <a:r>
              <a:rPr lang="ko-KR" altLang="ko-KR" dirty="0" err="1"/>
              <a:t>vorhergesagt</a:t>
            </a:r>
            <a:r>
              <a:rPr lang="ko-KR" altLang="ko-KR" dirty="0"/>
              <a:t> </a:t>
            </a:r>
            <a:r>
              <a:rPr lang="ko-KR" altLang="ko-KR" dirty="0" err="1"/>
              <a:t>werden</a:t>
            </a:r>
            <a:r>
              <a:rPr lang="ko-KR" altLang="ko-KR" dirty="0"/>
              <a:t>?</a:t>
            </a:r>
            <a:endParaRPr lang="ko-KR" altLang="en-US" dirty="0"/>
          </a:p>
        </p:txBody>
      </p:sp>
      <p:pic>
        <p:nvPicPr>
          <p:cNvPr id="4" name="그림 3" descr="Datei:Goethe-Logo.svg">
            <a:extLst>
              <a:ext uri="{FF2B5EF4-FFF2-40B4-BE49-F238E27FC236}">
                <a16:creationId xmlns:a16="http://schemas.microsoft.com/office/drawing/2014/main" id="{3C59D73C-C6CF-E7DE-9296-149E71892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76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6306DD-9450-F239-BEB4-9601239A6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Vorgehen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44E44B-3CF6-3A14-3CEA-C1FDE76E0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Programmiersprache R</a:t>
            </a:r>
          </a:p>
          <a:p>
            <a:r>
              <a:rPr lang="de-DE" dirty="0"/>
              <a:t>Model Random Forest &amp; </a:t>
            </a:r>
            <a:r>
              <a:rPr lang="de-DE" dirty="0" err="1"/>
              <a:t>MaxEnt</a:t>
            </a:r>
          </a:p>
          <a:p>
            <a:r>
              <a:rPr lang="de-DE" err="1"/>
              <a:t>Heatmap</a:t>
            </a:r>
            <a:r>
              <a:rPr lang="de-DE"/>
              <a:t> als .</a:t>
            </a:r>
            <a:r>
              <a:rPr lang="de-DE" err="1"/>
              <a:t>tif</a:t>
            </a:r>
            <a:r>
              <a:rPr lang="de-DE"/>
              <a:t> und .png mit Wahrscheinlichkeiten</a:t>
            </a:r>
          </a:p>
        </p:txBody>
      </p:sp>
      <p:pic>
        <p:nvPicPr>
          <p:cNvPr id="4" name="그림 3" descr="Datei:Goethe-Logo.svg">
            <a:extLst>
              <a:ext uri="{FF2B5EF4-FFF2-40B4-BE49-F238E27FC236}">
                <a16:creationId xmlns:a16="http://schemas.microsoft.com/office/drawing/2014/main" id="{E11E6F32-73DD-A9C9-09EF-6A4EA4D2D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68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469DE-9A5C-23DF-D206-6FEA75B27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CEC329-B43A-9348-FA57-40A5C56BE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pic>
        <p:nvPicPr>
          <p:cNvPr id="4" name="그림 3" descr="Datei:Goethe-Logo.svg">
            <a:extLst>
              <a:ext uri="{FF2B5EF4-FFF2-40B4-BE49-F238E27FC236}">
                <a16:creationId xmlns:a16="http://schemas.microsoft.com/office/drawing/2014/main" id="{2F7AAD9D-7D95-F558-5B85-D4404548E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E98BE195-5AFC-CBBA-6BA7-DDE09367D3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403392"/>
              </p:ext>
            </p:extLst>
          </p:nvPr>
        </p:nvGraphicFramePr>
        <p:xfrm>
          <a:off x="834571" y="1714500"/>
          <a:ext cx="10405984" cy="451856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68661">
                  <a:extLst>
                    <a:ext uri="{9D8B030D-6E8A-4147-A177-3AD203B41FA5}">
                      <a16:colId xmlns:a16="http://schemas.microsoft.com/office/drawing/2014/main" val="951725254"/>
                    </a:ext>
                  </a:extLst>
                </a:gridCol>
                <a:gridCol w="2015551">
                  <a:extLst>
                    <a:ext uri="{9D8B030D-6E8A-4147-A177-3AD203B41FA5}">
                      <a16:colId xmlns:a16="http://schemas.microsoft.com/office/drawing/2014/main" val="207382626"/>
                    </a:ext>
                  </a:extLst>
                </a:gridCol>
                <a:gridCol w="4921772">
                  <a:extLst>
                    <a:ext uri="{9D8B030D-6E8A-4147-A177-3AD203B41FA5}">
                      <a16:colId xmlns:a16="http://schemas.microsoft.com/office/drawing/2014/main" val="4218744439"/>
                    </a:ext>
                  </a:extLst>
                </a:gridCol>
              </a:tblGrid>
              <a:tr h="521922">
                <a:tc>
                  <a:txBody>
                    <a:bodyPr/>
                    <a:lstStyle/>
                    <a:p>
                      <a:r>
                        <a:rPr lang="de-DE" sz="1600"/>
                        <a:t>Setup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April 2026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Aufsetzen GIT-Repo, DB-Import der SQL-Dumps, Datenexploration, Koordinatenprüfung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540788"/>
                  </a:ext>
                </a:extLst>
              </a:tr>
              <a:tr h="521922">
                <a:tc>
                  <a:txBody>
                    <a:bodyPr/>
                    <a:lstStyle/>
                    <a:p>
                      <a:r>
                        <a:rPr lang="de-DE" sz="1600"/>
                        <a:t>Raster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Mai 2026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 b="0" i="0" u="none" strike="noStrike" noProof="0" dirty="0">
                          <a:latin typeface="Aptos"/>
                        </a:rPr>
                        <a:t>Bodenkarte + MSQR </a:t>
                      </a:r>
                      <a:r>
                        <a:rPr lang="de-DE" sz="1600" b="0" i="0" u="none" strike="noStrike" noProof="0" dirty="0" err="1">
                          <a:latin typeface="Aptos"/>
                        </a:rPr>
                        <a:t>rasterisiert</a:t>
                      </a:r>
                      <a:r>
                        <a:rPr lang="de-DE" sz="1600" b="0" i="0" u="none" strike="noStrike" noProof="0" dirty="0">
                          <a:latin typeface="Aptos"/>
                        </a:rPr>
                        <a:t>, SRTM beschafft, Raster-Stack validiert 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590695"/>
                  </a:ext>
                </a:extLst>
              </a:tr>
              <a:tr h="521922">
                <a:tc>
                  <a:txBody>
                    <a:bodyPr/>
                    <a:lstStyle/>
                    <a:p>
                      <a:r>
                        <a:rPr lang="de-DE" sz="1600"/>
                        <a:t>Modell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Mai 2026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 b="0" i="0" u="none" strike="noStrike" noProof="0" dirty="0">
                          <a:latin typeface="Aptos"/>
                        </a:rPr>
                        <a:t>Random Forest trainiert, CV-Metriken berechnet, Variable </a:t>
                      </a:r>
                      <a:r>
                        <a:rPr lang="de-DE" sz="1600" b="0" i="0" u="none" strike="noStrike" noProof="0" dirty="0" err="1">
                          <a:latin typeface="Aptos"/>
                        </a:rPr>
                        <a:t>Importance</a:t>
                      </a:r>
                      <a:r>
                        <a:rPr lang="de-DE" sz="1600" b="0" i="0" u="none" strike="noStrike" noProof="0" dirty="0">
                          <a:latin typeface="Aptos"/>
                        </a:rPr>
                        <a:t> analysiert 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143938"/>
                  </a:ext>
                </a:extLst>
              </a:tr>
              <a:tr h="521922">
                <a:tc>
                  <a:txBody>
                    <a:bodyPr/>
                    <a:lstStyle/>
                    <a:p>
                      <a:r>
                        <a:rPr lang="de-DE" sz="1600" dirty="0" err="1"/>
                        <a:t>Heatmap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Juni 2026</a:t>
                      </a:r>
                      <a:br>
                        <a:rPr lang="de-DE" sz="1600" dirty="0"/>
                      </a:br>
                      <a:r>
                        <a:rPr lang="de-DE" sz="1600" dirty="0"/>
                        <a:t>vor </a:t>
                      </a:r>
                      <a:r>
                        <a:rPr lang="de-DE" sz="1600" dirty="0" err="1"/>
                        <a:t>Zwischenpräsi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 b="0" i="0" u="none" strike="noStrike" noProof="0" dirty="0" err="1">
                          <a:latin typeface="Aptos"/>
                        </a:rPr>
                        <a:t>Heatmap-GeoTIFF</a:t>
                      </a:r>
                      <a:r>
                        <a:rPr lang="de-DE" sz="1600" b="0" i="0" u="none" strike="noStrike" noProof="0" dirty="0">
                          <a:latin typeface="Aptos"/>
                        </a:rPr>
                        <a:t> fertig, PNG exportiert, QGIS-Layout erstellt 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960396"/>
                  </a:ext>
                </a:extLst>
              </a:tr>
              <a:tr h="52192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 b="1"/>
                        <a:t>Zwischenpräsentation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/>
                        <a:t>11. Juni 2026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734915"/>
                  </a:ext>
                </a:extLst>
              </a:tr>
              <a:tr h="52192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/>
                        <a:t>Verfeinerung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/>
                        <a:t>Juni 2026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 b="0" i="0" u="none" strike="noStrike" noProof="0" dirty="0" err="1">
                          <a:latin typeface="Aptos"/>
                        </a:rPr>
                        <a:t>Spatial</a:t>
                      </a:r>
                      <a:r>
                        <a:rPr lang="de-DE" sz="1600" b="0" i="0" u="none" strike="noStrike" noProof="0" dirty="0">
                          <a:latin typeface="Aptos"/>
                        </a:rPr>
                        <a:t> Block CV, Perioden-Teilmodelle, Sensitivitätsanalysen 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550108"/>
                  </a:ext>
                </a:extLst>
              </a:tr>
              <a:tr h="52192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/>
                        <a:t>Abschluss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 dirty="0"/>
                        <a:t>Juli 2026</a:t>
                      </a:r>
                      <a:br>
                        <a:rPr lang="de-DE" sz="1600" dirty="0"/>
                      </a:br>
                      <a:r>
                        <a:rPr lang="de-DE" sz="1600" dirty="0"/>
                        <a:t>vor </a:t>
                      </a:r>
                      <a:r>
                        <a:rPr lang="de-DE" sz="1600" dirty="0" err="1"/>
                        <a:t>Abschlusspräsi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 b="0" i="0" u="none" strike="noStrike" noProof="0">
                          <a:latin typeface="Aptos"/>
                        </a:rPr>
                        <a:t>Finales Modell, Abschlussbericht, Präsentationsfolien 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233921"/>
                  </a:ext>
                </a:extLst>
              </a:tr>
              <a:tr h="52192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 b="1"/>
                        <a:t>Abschlusspräsentation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/>
                        <a:t>09. Juli 2026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de-DE" sz="1600" b="0" i="0" u="none" strike="noStrike" noProof="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546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291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37E97B-BDE8-EBBE-A96D-0BBCC2FA3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 Skript Aufbau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D672D8-EFC3-3BA4-5643-8DC38A056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de-DE" b="1" dirty="0">
                <a:ea typeface="+mn-lt"/>
                <a:cs typeface="+mn-lt"/>
              </a:rPr>
              <a:t>DB-Verbindung</a:t>
            </a:r>
            <a:r>
              <a:rPr lang="de-DE">
                <a:ea typeface="+mn-lt"/>
                <a:cs typeface="+mn-lt"/>
              </a:rPr>
              <a:t> / Einlesen von umgewandelten CSV-Dateien</a:t>
            </a:r>
            <a:endParaRPr lang="de-DE"/>
          </a:p>
          <a:p>
            <a:r>
              <a:rPr lang="de-DE" b="1" dirty="0">
                <a:ea typeface="+mn-lt"/>
                <a:cs typeface="+mn-lt"/>
              </a:rPr>
              <a:t>Bereinigung: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Komma→Punkt-Konvertierung</a:t>
            </a:r>
            <a:r>
              <a:rPr lang="de-DE" dirty="0">
                <a:ea typeface="+mn-lt"/>
                <a:cs typeface="+mn-lt"/>
              </a:rPr>
              <a:t>, NA-Filter</a:t>
            </a:r>
            <a:endParaRPr lang="de-DE" dirty="0"/>
          </a:p>
          <a:p>
            <a:r>
              <a:rPr lang="de-DE" b="1">
                <a:ea typeface="+mn-lt"/>
                <a:cs typeface="+mn-lt"/>
              </a:rPr>
              <a:t>Pseudo-Absence-Generierung:</a:t>
            </a:r>
            <a:r>
              <a:rPr lang="de-DE">
                <a:ea typeface="+mn-lt"/>
                <a:cs typeface="+mn-lt"/>
              </a:rPr>
              <a:t> zufällige Punkte in Bayern mit Mindestabstand (5 km) zu bekannten Fundorten </a:t>
            </a:r>
            <a:r>
              <a:rPr lang="de-DE" err="1">
                <a:ea typeface="+mn-lt"/>
                <a:cs typeface="+mn-lt"/>
              </a:rPr>
              <a:t>generi</a:t>
            </a:r>
            <a:r>
              <a:rPr lang="de-DE">
                <a:ea typeface="+mn-lt"/>
                <a:cs typeface="+mn-lt"/>
              </a:rPr>
              <a:t>eren</a:t>
            </a:r>
            <a:endParaRPr lang="de-DE"/>
          </a:p>
          <a:p>
            <a:r>
              <a:rPr lang="de-DE" b="1">
                <a:ea typeface="+mn-lt"/>
                <a:cs typeface="+mn-lt"/>
              </a:rPr>
              <a:t>Trainings-Datensatz</a:t>
            </a:r>
            <a:r>
              <a:rPr lang="de-DE">
                <a:ea typeface="+mn-lt"/>
                <a:cs typeface="+mn-lt"/>
              </a:rPr>
              <a:t> zusammensetzen 1:2 Presence/Absence-Verhältnis</a:t>
            </a:r>
            <a:endParaRPr lang="de-DE"/>
          </a:p>
          <a:p>
            <a:r>
              <a:rPr lang="de-DE" b="1" dirty="0">
                <a:ea typeface="+mn-lt"/>
                <a:cs typeface="+mn-lt"/>
              </a:rPr>
              <a:t>Random Forest </a:t>
            </a:r>
            <a:r>
              <a:rPr lang="de-DE" dirty="0">
                <a:ea typeface="+mn-lt"/>
                <a:cs typeface="+mn-lt"/>
              </a:rPr>
              <a:t>trainieren (via </a:t>
            </a:r>
            <a:r>
              <a:rPr lang="de-DE" dirty="0" err="1">
                <a:latin typeface="Consolas"/>
              </a:rPr>
              <a:t>ranger</a:t>
            </a:r>
            <a:r>
              <a:rPr lang="de-DE" dirty="0">
                <a:ea typeface="+mn-lt"/>
                <a:cs typeface="+mn-lt"/>
              </a:rPr>
              <a:t> + </a:t>
            </a:r>
            <a:r>
              <a:rPr lang="de-DE" dirty="0" err="1">
                <a:latin typeface="Consolas"/>
              </a:rPr>
              <a:t>caret</a:t>
            </a:r>
            <a:r>
              <a:rPr lang="de-DE" dirty="0">
                <a:ea typeface="+mn-lt"/>
                <a:cs typeface="+mn-lt"/>
              </a:rPr>
              <a:t>) mit 5-fold Cross-Validation, ROC als Metrik</a:t>
            </a:r>
            <a:endParaRPr lang="de-DE" dirty="0"/>
          </a:p>
          <a:p>
            <a:r>
              <a:rPr lang="de-DE" b="1">
                <a:ea typeface="+mn-lt"/>
                <a:cs typeface="+mn-lt"/>
              </a:rPr>
              <a:t>Vorhersage-Raster</a:t>
            </a:r>
            <a:r>
              <a:rPr lang="de-DE">
                <a:ea typeface="+mn-lt"/>
                <a:cs typeface="+mn-lt"/>
              </a:rPr>
              <a:t> erstellen; Gitterpunkte über ganz Bayern</a:t>
            </a:r>
            <a:endParaRPr lang="de-DE"/>
          </a:p>
          <a:p>
            <a:r>
              <a:rPr lang="de-DE" b="1" dirty="0" err="1">
                <a:ea typeface="+mn-lt"/>
                <a:cs typeface="+mn-lt"/>
              </a:rPr>
              <a:t>terra</a:t>
            </a:r>
            <a:r>
              <a:rPr lang="de-DE" b="1" dirty="0">
                <a:ea typeface="+mn-lt"/>
                <a:cs typeface="+mn-lt"/>
              </a:rPr>
              <a:t>-Raster: </a:t>
            </a:r>
            <a:r>
              <a:rPr lang="de-DE" dirty="0">
                <a:ea typeface="+mn-lt"/>
                <a:cs typeface="+mn-lt"/>
              </a:rPr>
              <a:t>Ausgabe als </a:t>
            </a:r>
            <a:r>
              <a:rPr lang="de-DE" dirty="0" err="1">
                <a:ea typeface="+mn-lt"/>
                <a:cs typeface="+mn-lt"/>
              </a:rPr>
              <a:t>GeoTIFF</a:t>
            </a:r>
            <a:r>
              <a:rPr lang="de-DE" dirty="0">
                <a:ea typeface="+mn-lt"/>
                <a:cs typeface="+mn-lt"/>
              </a:rPr>
              <a:t> (für QGIS direkt nutzbar)</a:t>
            </a:r>
            <a:endParaRPr lang="de-DE" dirty="0"/>
          </a:p>
          <a:p>
            <a:r>
              <a:rPr lang="de-DE" b="1">
                <a:ea typeface="+mn-lt"/>
                <a:cs typeface="+mn-lt"/>
              </a:rPr>
              <a:t>ggplot2-Heatmap:</a:t>
            </a:r>
            <a:r>
              <a:rPr lang="de-DE" b="1" dirty="0">
                <a:latin typeface="Aptos"/>
                <a:ea typeface="+mn-lt"/>
                <a:cs typeface="+mn-lt"/>
              </a:rPr>
              <a:t> </a:t>
            </a:r>
            <a:r>
              <a:rPr lang="de-DE">
                <a:latin typeface="Consolas"/>
                <a:ea typeface="+mn-lt"/>
                <a:cs typeface="+mn-lt"/>
              </a:rPr>
              <a:t>viridis</a:t>
            </a:r>
            <a:r>
              <a:rPr lang="de-DE">
                <a:latin typeface="Consolas"/>
              </a:rPr>
              <a:t>/magma</a:t>
            </a:r>
            <a:r>
              <a:rPr lang="de-DE">
                <a:ea typeface="+mn-lt"/>
                <a:cs typeface="+mn-lt"/>
              </a:rPr>
              <a:t>-Farbskala + bekannte Fundorte als gelbe Punkte</a:t>
            </a:r>
            <a:endParaRPr lang="de-DE"/>
          </a:p>
          <a:p>
            <a:r>
              <a:rPr lang="de-DE" b="1" dirty="0">
                <a:ea typeface="+mn-lt"/>
                <a:cs typeface="+mn-lt"/>
              </a:rPr>
              <a:t>Evaluation</a:t>
            </a:r>
            <a:r>
              <a:rPr lang="de-DE" dirty="0">
                <a:ea typeface="+mn-lt"/>
                <a:cs typeface="+mn-lt"/>
              </a:rPr>
              <a:t> des Modells, auf AUC, </a:t>
            </a:r>
            <a:r>
              <a:rPr lang="de-DE" dirty="0" err="1">
                <a:ea typeface="+mn-lt"/>
                <a:cs typeface="+mn-lt"/>
              </a:rPr>
              <a:t>Sensitivity</a:t>
            </a:r>
            <a:r>
              <a:rPr lang="de-DE" dirty="0">
                <a:ea typeface="+mn-lt"/>
                <a:cs typeface="+mn-lt"/>
              </a:rPr>
              <a:t>, </a:t>
            </a:r>
            <a:r>
              <a:rPr lang="de-DE" dirty="0" err="1">
                <a:ea typeface="+mn-lt"/>
                <a:cs typeface="+mn-lt"/>
              </a:rPr>
              <a:t>Specificity</a:t>
            </a:r>
            <a:r>
              <a:rPr lang="de-DE" dirty="0">
                <a:ea typeface="+mn-lt"/>
                <a:cs typeface="+mn-lt"/>
              </a:rPr>
              <a:t>, Konfusionsmatrix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4" name="그림 3" descr="Datei:Goethe-Logo.svg">
            <a:extLst>
              <a:ext uri="{FF2B5EF4-FFF2-40B4-BE49-F238E27FC236}">
                <a16:creationId xmlns:a16="http://schemas.microsoft.com/office/drawing/2014/main" id="{A9B3DAEE-3DC6-C92D-A591-8EC9D305B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309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CD9B2D-61F1-8A21-774E-13BCA4302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Random Forest - Erste Versuche</a:t>
            </a:r>
          </a:p>
        </p:txBody>
      </p:sp>
      <p:pic>
        <p:nvPicPr>
          <p:cNvPr id="7" name="Inhaltsplatzhalter 6" descr="Ein Bild, das Text, Diagramm enthält.&#10;&#10;KI-generierte Inhalte können fehlerhaft sein.">
            <a:extLst>
              <a:ext uri="{FF2B5EF4-FFF2-40B4-BE49-F238E27FC236}">
                <a16:creationId xmlns:a16="http://schemas.microsoft.com/office/drawing/2014/main" id="{6BC7EBDF-377A-B01F-606A-7E954FB30F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1781"/>
            <a:ext cx="5801784" cy="4351338"/>
          </a:xfrm>
          <a:prstGeom prst="rect">
            <a:avLst/>
          </a:prstGeom>
        </p:spPr>
      </p:pic>
      <p:pic>
        <p:nvPicPr>
          <p:cNvPr id="3" name="그림 2" descr="Datei:Goethe-Logo.svg">
            <a:extLst>
              <a:ext uri="{FF2B5EF4-FFF2-40B4-BE49-F238E27FC236}">
                <a16:creationId xmlns:a16="http://schemas.microsoft.com/office/drawing/2014/main" id="{6E9F61EC-C794-D68D-9F84-D08E4750D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43C5986A-C603-0D4A-1309-605DEE98AEF8}"/>
              </a:ext>
            </a:extLst>
          </p:cNvPr>
          <p:cNvSpPr txBox="1">
            <a:spLocks/>
          </p:cNvSpPr>
          <p:nvPr/>
        </p:nvSpPr>
        <p:spPr>
          <a:xfrm>
            <a:off x="6436567" y="1831781"/>
            <a:ext cx="5581261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1800" dirty="0"/>
          </a:p>
          <a:p>
            <a:r>
              <a:rPr lang="en-US" altLang="ko-KR" sz="1800" dirty="0">
                <a:ea typeface="맑은 고딕"/>
              </a:rPr>
              <a:t>D</a:t>
            </a:r>
            <a:r>
              <a:rPr lang="ko-KR" altLang="ko-KR" sz="1800">
                <a:ea typeface="맑은 고딕"/>
              </a:rPr>
              <a:t>atensätze</a:t>
            </a:r>
            <a:r>
              <a:rPr lang="ko-KR" altLang="ko-KR" sz="1800" dirty="0">
                <a:ea typeface="맑은 고딕"/>
              </a:rPr>
              <a:t> </a:t>
            </a:r>
            <a:r>
              <a:rPr lang="ko-KR" altLang="ko-KR" sz="1800">
                <a:ea typeface="맑은 고딕"/>
              </a:rPr>
              <a:t>erfolgreich</a:t>
            </a:r>
            <a:r>
              <a:rPr lang="ko-KR" altLang="ko-KR" sz="1800" dirty="0">
                <a:ea typeface="맑은 고딕"/>
              </a:rPr>
              <a:t> </a:t>
            </a:r>
            <a:r>
              <a:rPr lang="ko-KR" altLang="ko-KR" sz="1800">
                <a:ea typeface="맑은 고딕"/>
              </a:rPr>
              <a:t>zusammengeführt</a:t>
            </a:r>
            <a:r>
              <a:rPr lang="ko-KR" altLang="ko-KR" sz="1800" dirty="0">
                <a:ea typeface="맑은 고딕"/>
              </a:rPr>
              <a:t> </a:t>
            </a:r>
            <a:endParaRPr lang="en-US" altLang="ko-KR" sz="1800" dirty="0">
              <a:ea typeface="맑은 고딕"/>
            </a:endParaRPr>
          </a:p>
          <a:p>
            <a:r>
              <a:rPr lang="ko-KR" altLang="ko-KR" sz="1800">
                <a:ea typeface="맑은 고딕"/>
              </a:rPr>
              <a:t>Pseudo-Absence-Generierung</a:t>
            </a:r>
            <a:r>
              <a:rPr lang="ko-KR" altLang="ko-KR" sz="1800" dirty="0">
                <a:ea typeface="맑은 고딕"/>
              </a:rPr>
              <a:t> </a:t>
            </a:r>
            <a:r>
              <a:rPr lang="ko-KR" altLang="ko-KR" sz="1800">
                <a:ea typeface="맑은 고딕"/>
              </a:rPr>
              <a:t>implementiert</a:t>
            </a:r>
            <a:r>
              <a:rPr lang="ko-KR" altLang="ko-KR" sz="1800" dirty="0">
                <a:ea typeface="맑은 고딕"/>
              </a:rPr>
              <a:t> </a:t>
            </a:r>
            <a:endParaRPr lang="en-US" altLang="ko-KR" sz="1800" dirty="0">
              <a:ea typeface="맑은 고딕"/>
            </a:endParaRPr>
          </a:p>
          <a:p>
            <a:r>
              <a:rPr lang="ko-KR" altLang="ko-KR" sz="1800">
                <a:ea typeface="맑은 고딕"/>
              </a:rPr>
              <a:t>Erste</a:t>
            </a:r>
            <a:r>
              <a:rPr lang="ko-KR" altLang="ko-KR" sz="1800" dirty="0">
                <a:ea typeface="맑은 고딕"/>
              </a:rPr>
              <a:t> </a:t>
            </a:r>
            <a:r>
              <a:rPr lang="ko-KR" altLang="ko-KR" sz="1800">
                <a:ea typeface="맑은 고딕"/>
              </a:rPr>
              <a:t>Random-Forest-Modelle</a:t>
            </a:r>
            <a:r>
              <a:rPr lang="ko-KR" altLang="ko-KR" sz="1800" dirty="0">
                <a:ea typeface="맑은 고딕"/>
              </a:rPr>
              <a:t> </a:t>
            </a:r>
            <a:r>
              <a:rPr lang="ko-KR" altLang="ko-KR" sz="1800">
                <a:ea typeface="맑은 고딕"/>
              </a:rPr>
              <a:t>trainiert</a:t>
            </a:r>
            <a:endParaRPr lang="en-US" altLang="ko-KR" sz="1800">
              <a:ea typeface="맑은 고딕"/>
            </a:endParaRPr>
          </a:p>
          <a:p>
            <a:r>
              <a:rPr lang="ko-KR" altLang="ko-KR" sz="1800">
                <a:ea typeface="맑은 고딕"/>
              </a:rPr>
              <a:t>Rechenzeitproblem</a:t>
            </a:r>
            <a:r>
              <a:rPr lang="ko-KR" altLang="ko-KR" sz="1800" dirty="0">
                <a:ea typeface="맑은 고딕"/>
              </a:rPr>
              <a:t> </a:t>
            </a:r>
            <a:r>
              <a:rPr lang="ko-KR" altLang="ko-KR" sz="1800">
                <a:ea typeface="맑은 고딕"/>
              </a:rPr>
              <a:t>bei</a:t>
            </a:r>
            <a:r>
              <a:rPr lang="ko-KR" altLang="ko-KR" sz="1800" dirty="0">
                <a:ea typeface="맑은 고딕"/>
              </a:rPr>
              <a:t> </a:t>
            </a:r>
            <a:r>
              <a:rPr lang="ko-KR" altLang="ko-KR" sz="1800">
                <a:ea typeface="맑은 고딕"/>
              </a:rPr>
              <a:t>Distanzberechnungen</a:t>
            </a:r>
            <a:r>
              <a:rPr lang="ko-KR" altLang="ko-KR" sz="1800" dirty="0">
                <a:ea typeface="맑은 고딕"/>
              </a:rPr>
              <a:t> </a:t>
            </a:r>
            <a:r>
              <a:rPr lang="ko-KR" altLang="ko-KR" sz="1800">
                <a:ea typeface="맑은 고딕"/>
              </a:rPr>
              <a:t>identifiziert</a:t>
            </a:r>
            <a:endParaRPr lang="en-US" altLang="ko-KR" sz="1800">
              <a:ea typeface="맑은 고딕"/>
            </a:endParaRPr>
          </a:p>
          <a:p>
            <a:endParaRPr lang="en-US" altLang="ko-KR" sz="1800" dirty="0"/>
          </a:p>
          <a:p>
            <a:pPr marL="0" indent="0">
              <a:buNone/>
            </a:pPr>
            <a:r>
              <a:rPr lang="en-US" sz="1800" b="1" dirty="0" err="1"/>
              <a:t>Herausforderungen</a:t>
            </a:r>
          </a:p>
          <a:p>
            <a:r>
              <a:rPr lang="ko-KR" altLang="ko-KR" sz="1800">
                <a:ea typeface="맑은 고딕"/>
              </a:rPr>
              <a:t>Hohe</a:t>
            </a:r>
            <a:r>
              <a:rPr lang="ko-KR" altLang="ko-KR" sz="1800" dirty="0">
                <a:ea typeface="맑은 고딕"/>
              </a:rPr>
              <a:t> </a:t>
            </a:r>
            <a:r>
              <a:rPr lang="ko-KR" altLang="ko-KR" sz="1800">
                <a:ea typeface="맑은 고딕"/>
              </a:rPr>
              <a:t>Rechenzeit</a:t>
            </a:r>
            <a:r>
              <a:rPr lang="ko-KR" altLang="ko-KR" sz="1800" dirty="0">
                <a:ea typeface="맑은 고딕"/>
              </a:rPr>
              <a:t> </a:t>
            </a:r>
            <a:r>
              <a:rPr lang="ko-KR" altLang="ko-KR" sz="1800">
                <a:ea typeface="맑은 고딕"/>
              </a:rPr>
              <a:t>bei</a:t>
            </a:r>
            <a:r>
              <a:rPr lang="ko-KR" altLang="ko-KR" sz="1800" dirty="0">
                <a:ea typeface="맑은 고딕"/>
              </a:rPr>
              <a:t> </a:t>
            </a:r>
            <a:r>
              <a:rPr lang="ko-KR" altLang="ko-KR" sz="1800">
                <a:ea typeface="맑은 고딕"/>
              </a:rPr>
              <a:t>Distanzberechnungen</a:t>
            </a:r>
            <a:endParaRPr lang="en-US" altLang="ko-KR" sz="1800">
              <a:ea typeface="맑은 고딕"/>
            </a:endParaRPr>
          </a:p>
          <a:p>
            <a:r>
              <a:rPr lang="ko-KR" altLang="ko-KR" sz="1800">
                <a:ea typeface="맑은 고딕"/>
              </a:rPr>
              <a:t>Optimierung</a:t>
            </a:r>
            <a:r>
              <a:rPr lang="ko-KR" altLang="ko-KR" sz="1800" dirty="0">
                <a:ea typeface="맑은 고딕"/>
              </a:rPr>
              <a:t> </a:t>
            </a:r>
            <a:r>
              <a:rPr lang="ko-KR" altLang="ko-KR" sz="1800">
                <a:ea typeface="맑은 고딕"/>
              </a:rPr>
              <a:t>der</a:t>
            </a:r>
            <a:r>
              <a:rPr lang="ko-KR" altLang="ko-KR" sz="1800" dirty="0">
                <a:ea typeface="맑은 고딕"/>
              </a:rPr>
              <a:t> </a:t>
            </a:r>
            <a:r>
              <a:rPr lang="ko-KR" altLang="ko-KR" sz="1800">
                <a:ea typeface="맑은 고딕"/>
              </a:rPr>
              <a:t>Pseudo-Absence-Generierung</a:t>
            </a:r>
            <a:endParaRPr lang="en-US" altLang="ko-KR" sz="1800">
              <a:ea typeface="맑은 고딕"/>
            </a:endParaRPr>
          </a:p>
          <a:p>
            <a:r>
              <a:rPr lang="ko-KR" altLang="ko-KR" sz="1800">
                <a:ea typeface="맑은 고딕"/>
              </a:rPr>
              <a:t>notwendige Abwägung zwischen Rasterauflösung und Rechenzeit</a:t>
            </a:r>
            <a:endParaRPr lang="de-DE" sz="180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225534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987EAB-6F00-EC34-C413-18B6B577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7" name="Inhaltsplatzhalter 6" descr="Ein Bild, das Karte, Text, Atlas, Diagramm enthält.&#10;&#10;KI-generierte Inhalte können fehlerhaft sein.">
            <a:extLst>
              <a:ext uri="{FF2B5EF4-FFF2-40B4-BE49-F238E27FC236}">
                <a16:creationId xmlns:a16="http://schemas.microsoft.com/office/drawing/2014/main" id="{1584532C-D6C7-0760-C5CD-E88F610F33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955" y="2144940"/>
            <a:ext cx="4822316" cy="3879624"/>
          </a:xfrm>
          <a:prstGeom prst="rect">
            <a:avLst/>
          </a:prstGeom>
        </p:spPr>
      </p:pic>
      <p:pic>
        <p:nvPicPr>
          <p:cNvPr id="8" name="Grafik 7" descr="Ein Bild, das Text, Kart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B5B91E6C-C1A2-5096-571B-409BB0887E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34" b="167"/>
          <a:stretch>
            <a:fillRect/>
          </a:stretch>
        </p:blipFill>
        <p:spPr>
          <a:xfrm>
            <a:off x="6506935" y="2147661"/>
            <a:ext cx="4853232" cy="3876209"/>
          </a:xfrm>
          <a:prstGeom prst="rect">
            <a:avLst/>
          </a:prstGeom>
        </p:spPr>
      </p:pic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B0BB0342-E18D-896D-86E1-0CB3E8FB8451}"/>
              </a:ext>
            </a:extLst>
          </p:cNvPr>
          <p:cNvSpPr/>
          <p:nvPr/>
        </p:nvSpPr>
        <p:spPr>
          <a:xfrm>
            <a:off x="5381961" y="3718182"/>
            <a:ext cx="1126434" cy="4638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0723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1D6E3C-FE53-2376-9083-65775C8A6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Random Forest – </a:t>
            </a:r>
            <a:r>
              <a:rPr lang="de-DE"/>
              <a:t>Final</a:t>
            </a:r>
            <a:endParaRPr lang="de-DE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DB468AF0-8F2D-63FE-7DDA-62C6E16DA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9465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BB71AB-AEFD-0A9D-EB5F-1616A810A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 descr="Ein Bild, das Text, Karte enthält.&#10;&#10;KI-generierte Inhalte können fehlerhaft sein.">
            <a:extLst>
              <a:ext uri="{FF2B5EF4-FFF2-40B4-BE49-F238E27FC236}">
                <a16:creationId xmlns:a16="http://schemas.microsoft.com/office/drawing/2014/main" id="{FE261285-895A-24DF-F511-A087E0BFF3B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r="-112" b="149"/>
          <a:stretch>
            <a:fillRect/>
          </a:stretch>
        </p:blipFill>
        <p:spPr>
          <a:xfrm>
            <a:off x="838200" y="2056294"/>
            <a:ext cx="5187402" cy="3884202"/>
          </a:xfrm>
          <a:prstGeom prst="rect">
            <a:avLst/>
          </a:prstGeom>
        </p:spPr>
      </p:pic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EF6E18A-4F02-ABC7-15CB-864B4592ADC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/>
              <a:t>Prädiktoren:</a:t>
            </a:r>
          </a:p>
          <a:p>
            <a:r>
              <a:rPr lang="de-DE"/>
              <a:t>Temperatur</a:t>
            </a:r>
            <a:endParaRPr lang="de-DE" dirty="0"/>
          </a:p>
          <a:p>
            <a:r>
              <a:rPr lang="de-DE" dirty="0"/>
              <a:t>Höhe, </a:t>
            </a:r>
            <a:r>
              <a:rPr lang="de-DE"/>
              <a:t> Steigung, Hangausrichtung</a:t>
            </a:r>
          </a:p>
          <a:p>
            <a:r>
              <a:rPr lang="de-DE"/>
              <a:t>Sonnenstunden</a:t>
            </a:r>
          </a:p>
          <a:p>
            <a:r>
              <a:rPr lang="de-DE"/>
              <a:t>Niederschlag</a:t>
            </a:r>
          </a:p>
          <a:p>
            <a:r>
              <a:rPr lang="de-DE"/>
              <a:t>MSQR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4346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E2E740-0150-0A11-C62A-5F3F37D30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MaxEnt</a:t>
            </a:r>
            <a:r>
              <a:rPr lang="de-DE" dirty="0"/>
              <a:t> – Erste Versuche</a:t>
            </a:r>
          </a:p>
        </p:txBody>
      </p:sp>
      <p:pic>
        <p:nvPicPr>
          <p:cNvPr id="4" name="Inhaltsplatzhalter 3" descr="Ein Bild, das Text, Karte, Atlas enthält.&#10;&#10;KI-generierte Inhalte können fehlerhaft sein.">
            <a:extLst>
              <a:ext uri="{FF2B5EF4-FFF2-40B4-BE49-F238E27FC236}">
                <a16:creationId xmlns:a16="http://schemas.microsoft.com/office/drawing/2014/main" id="{37CE6CC2-FCA8-EE44-B42A-8454C9D5E6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6413" y="2036082"/>
            <a:ext cx="4590087" cy="3676424"/>
          </a:xfrm>
          <a:prstGeom prst="rect">
            <a:avLst/>
          </a:prstGeom>
        </p:spPr>
      </p:pic>
      <p:pic>
        <p:nvPicPr>
          <p:cNvPr id="5" name="Grafik 4" descr="Ein Bild, das Text, Karte, Atlas enthält.&#10;&#10;KI-generierte Inhalte können fehlerhaft sein.">
            <a:extLst>
              <a:ext uri="{FF2B5EF4-FFF2-40B4-BE49-F238E27FC236}">
                <a16:creationId xmlns:a16="http://schemas.microsoft.com/office/drawing/2014/main" id="{76F4814D-9BD2-CCD4-D6F5-7DB76A104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893" y="2039256"/>
            <a:ext cx="4566558" cy="3664858"/>
          </a:xfrm>
          <a:prstGeom prst="rect">
            <a:avLst/>
          </a:prstGeom>
        </p:spPr>
      </p:pic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8FD061F5-5B55-9D1E-9923-DCAE8E1302F6}"/>
              </a:ext>
            </a:extLst>
          </p:cNvPr>
          <p:cNvSpPr/>
          <p:nvPr/>
        </p:nvSpPr>
        <p:spPr>
          <a:xfrm>
            <a:off x="5657732" y="3638353"/>
            <a:ext cx="1126434" cy="4638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7585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770EA4-F31F-4FFB-785E-173C0E5ED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MaxEnt</a:t>
            </a:r>
            <a:r>
              <a:rPr lang="de-DE" dirty="0"/>
              <a:t> - Final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8D61DD-E262-1860-FB68-95831685C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2974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A6F816-B701-4804-E610-7B4B977CF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Analyse-Tool</a:t>
            </a:r>
          </a:p>
        </p:txBody>
      </p:sp>
      <p:pic>
        <p:nvPicPr>
          <p:cNvPr id="4" name="Inhaltsplatzhalter 3" descr="Ein Bild, das Text, Screenshot, Diagramm, Karte enthält.&#10;&#10;KI-generierte Inhalte können fehlerhaft sein.">
            <a:extLst>
              <a:ext uri="{FF2B5EF4-FFF2-40B4-BE49-F238E27FC236}">
                <a16:creationId xmlns:a16="http://schemas.microsoft.com/office/drawing/2014/main" id="{8840E5DF-F0AA-9594-E64A-CBBF9E1E596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333563"/>
            <a:ext cx="5958114" cy="4036433"/>
          </a:xfrm>
          <a:prstGeom prst="rect">
            <a:avLst/>
          </a:prstGeom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0831D42-D880-18F5-82C1-A758556DA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57571" y="1825625"/>
            <a:ext cx="428897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Tool um Karte zu </a:t>
            </a:r>
            <a:r>
              <a:rPr lang="de-DE"/>
              <a:t>analysieren</a:t>
            </a:r>
          </a:p>
          <a:p>
            <a:r>
              <a:rPr lang="de-DE"/>
              <a:t>Zeigt Prädiktoren für jeweilige Koordinaten an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6905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A1028F-B79B-DAB4-8EC5-8B1D69009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Analyse – Random Forest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497BAF-CE69-14D2-C4B0-16A26E8E2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/>
              <a:t>Ausschlaggebende Prädiktoren:</a:t>
            </a:r>
          </a:p>
          <a:p>
            <a:pPr marL="514350" indent="-514350">
              <a:buAutoNum type="arabicPeriod"/>
            </a:pPr>
            <a:r>
              <a:rPr lang="de-DE"/>
              <a:t>(Welcher Prädiktor für welches Gebiet ausschlaggebend?)</a:t>
            </a:r>
            <a:endParaRPr lang="de-DE" dirty="0"/>
          </a:p>
          <a:p>
            <a:pPr marL="514350" indent="-514350">
              <a:buAutoNum type="arabicPeriod"/>
            </a:pPr>
            <a:endParaRPr lang="de-DE" dirty="0"/>
          </a:p>
          <a:p>
            <a:pPr>
              <a:buAutoNum type="arabicPeriod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2180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2DFC7C-B36A-7FE6-50FF-BA9FCAE90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Analyse - </a:t>
            </a:r>
            <a:r>
              <a:rPr lang="de-DE" err="1"/>
              <a:t>MaxEnt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77A0E6-A211-61DE-6050-E36CFA19C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3213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317C5C-0C1C-A12F-E721-3DDD0B945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Random Forest vs. </a:t>
            </a:r>
            <a:r>
              <a:rPr lang="de-DE" dirty="0" err="1"/>
              <a:t>MaxEnt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4A4418-13AD-C25D-A709-B03BC9776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Performance</a:t>
            </a:r>
          </a:p>
          <a:p>
            <a:r>
              <a:rPr lang="de-DE" dirty="0"/>
              <a:t>Sind die Ergebnisse kon</a:t>
            </a:r>
            <a:r>
              <a:rPr lang="de-DE"/>
              <a:t>sistent</a:t>
            </a:r>
            <a:endParaRPr lang="de-DE" dirty="0"/>
          </a:p>
          <a:p>
            <a:r>
              <a:rPr lang="de-DE"/>
              <a:t>Unterschiede?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7269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29945E-3CA6-1B28-84AC-FE3470258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hat gut </a:t>
            </a:r>
            <a:r>
              <a:rPr lang="de-DE"/>
              <a:t>geklappt?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2CF2FC-C574-97AF-6134-A49B3E908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8286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32330C-B2D2-FA46-D4AF-64F11EE07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Verbesserungsvorschläge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DDF15A-543B-3688-F6C7-B48D11D83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2268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C9CC91-7F74-6828-C089-14BD527E2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Ideen / Vorhaben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00E021-A602-8026-229A-7BB14E75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2285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b="1" dirty="0">
                <a:ea typeface="+mn-lt"/>
                <a:cs typeface="+mn-lt"/>
              </a:rPr>
              <a:t>Modell-Alternativen:</a:t>
            </a:r>
            <a:r>
              <a:rPr lang="de-DE" dirty="0">
                <a:ea typeface="+mn-lt"/>
                <a:cs typeface="+mn-lt"/>
              </a:rPr>
              <a:t> Random Forest ist unser Basismodell. </a:t>
            </a:r>
            <a:r>
              <a:rPr lang="de-DE" dirty="0" err="1">
                <a:ea typeface="+mn-lt"/>
                <a:cs typeface="+mn-lt"/>
              </a:rPr>
              <a:t>MaxENT</a:t>
            </a:r>
            <a:r>
              <a:rPr lang="de-DE" dirty="0">
                <a:ea typeface="+mn-lt"/>
                <a:cs typeface="+mn-lt"/>
              </a:rPr>
              <a:t> ist in der archäologischen Fachliteratur weit verbreitet, da es rein mit </a:t>
            </a:r>
            <a:r>
              <a:rPr lang="de-DE" dirty="0" err="1">
                <a:ea typeface="+mn-lt"/>
                <a:cs typeface="+mn-lt"/>
              </a:rPr>
              <a:t>Presences</a:t>
            </a:r>
            <a:r>
              <a:rPr lang="de-DE" dirty="0">
                <a:ea typeface="+mn-lt"/>
                <a:cs typeface="+mn-lt"/>
              </a:rPr>
              <a:t> arbeitet. Beide parallel trainieren und die ROC-AUCs vergleichen.</a:t>
            </a:r>
          </a:p>
          <a:p>
            <a:r>
              <a:rPr lang="de-DE" b="1" dirty="0">
                <a:ea typeface="+mn-lt"/>
                <a:cs typeface="+mn-lt"/>
              </a:rPr>
              <a:t>Pseudo-</a:t>
            </a:r>
            <a:r>
              <a:rPr lang="de-DE" b="1" dirty="0" err="1">
                <a:ea typeface="+mn-lt"/>
                <a:cs typeface="+mn-lt"/>
              </a:rPr>
              <a:t>Absences</a:t>
            </a:r>
            <a:r>
              <a:rPr lang="de-DE" b="1" dirty="0">
                <a:ea typeface="+mn-lt"/>
                <a:cs typeface="+mn-lt"/>
              </a:rPr>
              <a:t> &amp; Bias:</a:t>
            </a:r>
            <a:r>
              <a:rPr lang="de-DE" dirty="0">
                <a:ea typeface="+mn-lt"/>
                <a:cs typeface="+mn-lt"/>
              </a:rPr>
              <a:t> Unsere Pseudo-</a:t>
            </a:r>
            <a:r>
              <a:rPr lang="de-DE" dirty="0" err="1">
                <a:ea typeface="+mn-lt"/>
                <a:cs typeface="+mn-lt"/>
              </a:rPr>
              <a:t>Absences</a:t>
            </a:r>
            <a:r>
              <a:rPr lang="de-DE" dirty="0">
                <a:ea typeface="+mn-lt"/>
                <a:cs typeface="+mn-lt"/>
              </a:rPr>
              <a:t> werden zufällig innerhalb Bayerns generiert. Stattdessen aus </a:t>
            </a:r>
            <a:r>
              <a:rPr lang="de-DE" i="1" dirty="0" err="1">
                <a:ea typeface="+mn-lt"/>
                <a:cs typeface="+mn-lt"/>
              </a:rPr>
              <a:t>sampling</a:t>
            </a:r>
            <a:r>
              <a:rPr lang="de-DE" i="1" dirty="0">
                <a:ea typeface="+mn-lt"/>
                <a:cs typeface="+mn-lt"/>
              </a:rPr>
              <a:t> </a:t>
            </a:r>
            <a:r>
              <a:rPr lang="de-DE" i="1" dirty="0" err="1">
                <a:ea typeface="+mn-lt"/>
                <a:cs typeface="+mn-lt"/>
              </a:rPr>
              <a:t>bias</a:t>
            </a:r>
            <a:r>
              <a:rPr lang="de-DE" i="1" dirty="0">
                <a:ea typeface="+mn-lt"/>
                <a:cs typeface="+mn-lt"/>
              </a:rPr>
              <a:t> </a:t>
            </a:r>
            <a:r>
              <a:rPr lang="de-DE" i="1" dirty="0" err="1">
                <a:ea typeface="+mn-lt"/>
                <a:cs typeface="+mn-lt"/>
              </a:rPr>
              <a:t>layer</a:t>
            </a:r>
            <a:r>
              <a:rPr lang="de-DE" dirty="0">
                <a:ea typeface="+mn-lt"/>
                <a:cs typeface="+mn-lt"/>
              </a:rPr>
              <a:t> ziehen, also aus Regionen, die ähnlich gut prospektiert wurden wie die Fundorte.</a:t>
            </a:r>
          </a:p>
          <a:p>
            <a:r>
              <a:rPr lang="de-DE" b="1" dirty="0">
                <a:ea typeface="+mn-lt"/>
                <a:cs typeface="+mn-lt"/>
              </a:rPr>
              <a:t>Raster-Auflösung vs. Rechenzeit:</a:t>
            </a:r>
            <a:r>
              <a:rPr lang="de-DE" dirty="0">
                <a:ea typeface="+mn-lt"/>
                <a:cs typeface="+mn-lt"/>
              </a:rPr>
              <a:t> Parallele Verarbeitung via </a:t>
            </a:r>
            <a:r>
              <a:rPr lang="de-DE" dirty="0" err="1">
                <a:latin typeface="Consolas"/>
              </a:rPr>
              <a:t>future</a:t>
            </a:r>
            <a:r>
              <a:rPr lang="de-DE" dirty="0">
                <a:ea typeface="+mn-lt"/>
                <a:cs typeface="+mn-lt"/>
              </a:rPr>
              <a:t>/</a:t>
            </a:r>
            <a:r>
              <a:rPr lang="de-DE" dirty="0">
                <a:latin typeface="Consolas"/>
              </a:rPr>
              <a:t>parallel</a:t>
            </a:r>
            <a:r>
              <a:rPr lang="de-DE" dirty="0">
                <a:latin typeface="Consolas"/>
                <a:ea typeface="+mn-lt"/>
                <a:cs typeface="+mn-lt"/>
              </a:rPr>
              <a:t>,</a:t>
            </a:r>
            <a:r>
              <a:rPr lang="de-DE" dirty="0">
                <a:ea typeface="+mn-lt"/>
                <a:cs typeface="+mn-lt"/>
              </a:rPr>
              <a:t> für bessere Auflösung.</a:t>
            </a:r>
          </a:p>
        </p:txBody>
      </p:sp>
      <p:pic>
        <p:nvPicPr>
          <p:cNvPr id="4" name="그림 3" descr="Datei:Goethe-Logo.svg">
            <a:extLst>
              <a:ext uri="{FF2B5EF4-FFF2-40B4-BE49-F238E27FC236}">
                <a16:creationId xmlns:a16="http://schemas.microsoft.com/office/drawing/2014/main" id="{94566555-5BEA-FF9A-5B46-232C43AAE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03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5CCAC-A6CA-926E-A14B-7A26D7646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E4E44F-BAA7-C705-8E78-FF6CC3A9E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Ideen / Vorhaben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7B4579-4EA3-C3CB-B6ED-C12366A65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b="1" dirty="0">
                <a:ea typeface="+mn-lt"/>
                <a:cs typeface="+mn-lt"/>
              </a:rPr>
              <a:t>MSQR als Prädiktor / historische Validität:</a:t>
            </a:r>
            <a:r>
              <a:rPr lang="de-DE" dirty="0">
                <a:ea typeface="+mn-lt"/>
                <a:cs typeface="+mn-lt"/>
              </a:rPr>
              <a:t> Das Müncheberg Soil Quality Rating bewertet Böden nach modernen landwirtschaftlichen Maßstäben. Bodenparameter finden, die für die Eisenzeit spezifisch relevanter wären, z.B. Drainageverhältnisse oder Humusgehalt.</a:t>
            </a:r>
          </a:p>
          <a:p>
            <a:r>
              <a:rPr lang="ko-KR" altLang="ko-KR" dirty="0" err="1"/>
              <a:t>Prüfung</a:t>
            </a:r>
            <a:r>
              <a:rPr lang="ko-KR" altLang="ko-KR" dirty="0"/>
              <a:t> </a:t>
            </a:r>
            <a:r>
              <a:rPr lang="ko-KR" altLang="ko-KR" dirty="0" err="1"/>
              <a:t>zusätzlicher</a:t>
            </a:r>
            <a:r>
              <a:rPr lang="ko-KR" altLang="ko-KR" dirty="0"/>
              <a:t> </a:t>
            </a:r>
            <a:r>
              <a:rPr lang="ko-KR" altLang="ko-KR" dirty="0" err="1"/>
              <a:t>Umwelt</a:t>
            </a:r>
            <a:r>
              <a:rPr lang="ko-KR" altLang="ko-KR" dirty="0"/>
              <a:t>- </a:t>
            </a:r>
            <a:r>
              <a:rPr lang="ko-KR" altLang="ko-KR" dirty="0" err="1"/>
              <a:t>und</a:t>
            </a:r>
            <a:r>
              <a:rPr lang="ko-KR" altLang="ko-KR" dirty="0"/>
              <a:t> </a:t>
            </a:r>
            <a:r>
              <a:rPr lang="ko-KR" altLang="ko-KR" dirty="0" err="1"/>
              <a:t>Landschaftsvariablen</a:t>
            </a:r>
            <a:r>
              <a:rPr lang="ko-KR" altLang="ko-KR" dirty="0"/>
              <a:t> </a:t>
            </a:r>
            <a:r>
              <a:rPr lang="ko-KR" altLang="ko-KR" dirty="0" err="1"/>
              <a:t>aus</a:t>
            </a:r>
            <a:r>
              <a:rPr lang="ko-KR" altLang="ko-KR" dirty="0"/>
              <a:t> </a:t>
            </a:r>
            <a:r>
              <a:rPr lang="ko-KR" altLang="ko-KR" dirty="0" err="1"/>
              <a:t>dem</a:t>
            </a:r>
            <a:r>
              <a:rPr lang="ko-KR" altLang="ko-KR" dirty="0"/>
              <a:t> </a:t>
            </a:r>
            <a:r>
              <a:rPr lang="ko-KR" altLang="ko-KR" b="1" dirty="0" err="1"/>
              <a:t>BayernAtlas</a:t>
            </a:r>
            <a:r>
              <a:rPr lang="de-DE" dirty="0">
                <a:ea typeface="+mn-lt"/>
                <a:cs typeface="+mn-lt"/>
              </a:rPr>
              <a:t>(https://atlas.bayern.de)</a:t>
            </a:r>
          </a:p>
          <a:p>
            <a:endParaRPr lang="de-DE" dirty="0">
              <a:ea typeface="+mn-lt"/>
              <a:cs typeface="+mn-lt"/>
            </a:endParaRPr>
          </a:p>
        </p:txBody>
      </p:sp>
      <p:pic>
        <p:nvPicPr>
          <p:cNvPr id="4" name="그림 3" descr="Datei:Goethe-Logo.svg">
            <a:extLst>
              <a:ext uri="{FF2B5EF4-FFF2-40B4-BE49-F238E27FC236}">
                <a16:creationId xmlns:a16="http://schemas.microsoft.com/office/drawing/2014/main" id="{8A96E047-31FD-1F38-EEB0-6ACE11288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105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002BD1-A00D-877A-DBA0-E1F115BD7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7779"/>
            <a:ext cx="10515600" cy="1325563"/>
          </a:xfrm>
        </p:spPr>
        <p:txBody>
          <a:bodyPr/>
          <a:lstStyle/>
          <a:p>
            <a:pPr algn="ctr"/>
            <a:r>
              <a:rPr lang="de-DE" altLang="ko-KR"/>
              <a:t>Vielen Dank!</a:t>
            </a:r>
            <a:endParaRPr lang="ko-KR" altLang="en-US" dirty="0"/>
          </a:p>
        </p:txBody>
      </p:sp>
      <p:pic>
        <p:nvPicPr>
          <p:cNvPr id="4" name="그림 3" descr="Datei:Goethe-Logo.svg">
            <a:extLst>
              <a:ext uri="{FF2B5EF4-FFF2-40B4-BE49-F238E27FC236}">
                <a16:creationId xmlns:a16="http://schemas.microsoft.com/office/drawing/2014/main" id="{BE5DB1C8-3685-D8F5-FDE4-7F50A841F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833" y="112356"/>
            <a:ext cx="2374641" cy="129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622230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arissa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318</Words>
  <Application>Microsoft Office PowerPoint</Application>
  <PresentationFormat>Breitbild</PresentationFormat>
  <Paragraphs>40</Paragraphs>
  <Slides>20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1" baseType="lpstr">
      <vt:lpstr>Larissa</vt:lpstr>
      <vt:lpstr>Data Challenges - Abschlusspräsentation</vt:lpstr>
      <vt:lpstr>Thema: Predictive Modelling</vt:lpstr>
      <vt:lpstr>Vorgehen</vt:lpstr>
      <vt:lpstr>Zeitplan</vt:lpstr>
      <vt:lpstr>R Skript Aufbau</vt:lpstr>
      <vt:lpstr>Random Forest - Erste Versuche</vt:lpstr>
      <vt:lpstr>PowerPoint-Präsentation</vt:lpstr>
      <vt:lpstr>Random Forest – Final</vt:lpstr>
      <vt:lpstr>PowerPoint-Präsentation</vt:lpstr>
      <vt:lpstr>MaxEnt – Erste Versuche</vt:lpstr>
      <vt:lpstr>MaxEnt - Final</vt:lpstr>
      <vt:lpstr>Analyse-Tool</vt:lpstr>
      <vt:lpstr>Analyse – Random Forest</vt:lpstr>
      <vt:lpstr>Analyse - MaxEnt</vt:lpstr>
      <vt:lpstr>Random Forest vs. MaxEnt</vt:lpstr>
      <vt:lpstr>Was hat gut geklappt?</vt:lpstr>
      <vt:lpstr>Verbesserungsvorschläge</vt:lpstr>
      <vt:lpstr>Ideen / Vorhaben</vt:lpstr>
      <vt:lpstr>Ideen / Vorhaben</vt:lpstr>
      <vt:lpstr>Vielen Dank!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tkof6kkmo0@goetheuniversitaet.onmicrosoft.com</cp:lastModifiedBy>
  <cp:revision>298</cp:revision>
  <dcterms:created xsi:type="dcterms:W3CDTF">2026-06-03T16:23:37Z</dcterms:created>
  <dcterms:modified xsi:type="dcterms:W3CDTF">2026-07-06T13:36:32Z</dcterms:modified>
</cp:coreProperties>
</file>