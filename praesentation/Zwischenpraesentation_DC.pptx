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0471DF-F2AB-1745-595B-5EA4DB1F6518}" v="224" dt="2026-06-03T16:50:16.5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03.06.2026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3166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03.06.2026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3200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03.06.2026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5585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03.06.2026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2901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03.06.2026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4084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03.06.2026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0206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03.06.2026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7692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03.06.2026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3883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03.06.2026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9888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03.06.2026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9206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03.06.2026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9958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EB3054-B75A-4BD7-8B3E-8DC0F614FAF3}" type="datetimeFigureOut">
              <a:rPr lang="de-DE" smtClean="0"/>
              <a:t>03.06.2026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4725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Data Challenges 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Predictive Modelling</a:t>
            </a:r>
          </a:p>
        </p:txBody>
      </p:sp>
    </p:spTree>
    <p:extLst>
      <p:ext uri="{BB962C8B-B14F-4D97-AF65-F5344CB8AC3E}">
        <p14:creationId xmlns:p14="http://schemas.microsoft.com/office/powerpoint/2010/main" val="1577499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6306DD-9450-F239-BEB4-9601239A6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Vorgehen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44E44B-3CF6-3A14-3CEA-C1FDE76E0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Programmiersprache R</a:t>
            </a:r>
          </a:p>
          <a:p>
            <a:r>
              <a:rPr lang="de-DE"/>
              <a:t>Model Random Forest</a:t>
            </a:r>
          </a:p>
          <a:p>
            <a:r>
              <a:rPr lang="de-DE" dirty="0" err="1"/>
              <a:t>Heatmap</a:t>
            </a:r>
            <a:r>
              <a:rPr lang="de-DE" dirty="0"/>
              <a:t> mit Wahrscheinlichkeiten</a:t>
            </a:r>
          </a:p>
        </p:txBody>
      </p:sp>
    </p:spTree>
    <p:extLst>
      <p:ext uri="{BB962C8B-B14F-4D97-AF65-F5344CB8AC3E}">
        <p14:creationId xmlns:p14="http://schemas.microsoft.com/office/powerpoint/2010/main" val="2077686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37E97B-BDE8-EBBE-A96D-0BBCC2FA3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R Skript Aufbau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D672D8-EFC3-3BA4-5643-8DC38A056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de-DE" b="1" dirty="0">
                <a:ea typeface="+mn-lt"/>
                <a:cs typeface="+mn-lt"/>
              </a:rPr>
              <a:t>DB-Verbindung</a:t>
            </a:r>
            <a:r>
              <a:rPr lang="de-DE">
                <a:ea typeface="+mn-lt"/>
                <a:cs typeface="+mn-lt"/>
              </a:rPr>
              <a:t> / Einlesen von umgewandelten CSV-Dateien</a:t>
            </a:r>
            <a:endParaRPr lang="de-DE"/>
          </a:p>
          <a:p>
            <a:r>
              <a:rPr lang="de-DE" b="1" dirty="0">
                <a:ea typeface="+mn-lt"/>
                <a:cs typeface="+mn-lt"/>
              </a:rPr>
              <a:t>Bereinigung: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Komma→Punkt-Konvertierung</a:t>
            </a:r>
            <a:r>
              <a:rPr lang="de-DE" dirty="0">
                <a:ea typeface="+mn-lt"/>
                <a:cs typeface="+mn-lt"/>
              </a:rPr>
              <a:t>, NA-Filter</a:t>
            </a:r>
            <a:endParaRPr lang="de-DE" dirty="0"/>
          </a:p>
          <a:p>
            <a:r>
              <a:rPr lang="de-DE" b="1">
                <a:ea typeface="+mn-lt"/>
                <a:cs typeface="+mn-lt"/>
              </a:rPr>
              <a:t>Pseudo-Absence-Generierung:</a:t>
            </a:r>
            <a:r>
              <a:rPr lang="de-DE">
                <a:ea typeface="+mn-lt"/>
                <a:cs typeface="+mn-lt"/>
              </a:rPr>
              <a:t> zufällige Punkte in Bayern mit Mindestabstand (5 km) zu bekannten Fundorten </a:t>
            </a:r>
            <a:r>
              <a:rPr lang="de-DE" err="1">
                <a:ea typeface="+mn-lt"/>
                <a:cs typeface="+mn-lt"/>
              </a:rPr>
              <a:t>generi</a:t>
            </a:r>
            <a:r>
              <a:rPr lang="de-DE">
                <a:ea typeface="+mn-lt"/>
                <a:cs typeface="+mn-lt"/>
              </a:rPr>
              <a:t>eren</a:t>
            </a:r>
            <a:endParaRPr lang="de-DE"/>
          </a:p>
          <a:p>
            <a:r>
              <a:rPr lang="de-DE" b="1">
                <a:ea typeface="+mn-lt"/>
                <a:cs typeface="+mn-lt"/>
              </a:rPr>
              <a:t>Trainings-Datensatz</a:t>
            </a:r>
            <a:r>
              <a:rPr lang="de-DE">
                <a:ea typeface="+mn-lt"/>
                <a:cs typeface="+mn-lt"/>
              </a:rPr>
              <a:t> zusammensetzen 1:2 Presence/Absence-Verhältnis</a:t>
            </a:r>
            <a:endParaRPr lang="de-DE"/>
          </a:p>
          <a:p>
            <a:r>
              <a:rPr lang="de-DE" b="1" dirty="0">
                <a:ea typeface="+mn-lt"/>
                <a:cs typeface="+mn-lt"/>
              </a:rPr>
              <a:t>Random Forest </a:t>
            </a:r>
            <a:r>
              <a:rPr lang="de-DE" dirty="0">
                <a:ea typeface="+mn-lt"/>
                <a:cs typeface="+mn-lt"/>
              </a:rPr>
              <a:t>trainieren (via </a:t>
            </a:r>
            <a:r>
              <a:rPr lang="de-DE" dirty="0" err="1">
                <a:latin typeface="Consolas"/>
              </a:rPr>
              <a:t>ranger</a:t>
            </a:r>
            <a:r>
              <a:rPr lang="de-DE" dirty="0">
                <a:ea typeface="+mn-lt"/>
                <a:cs typeface="+mn-lt"/>
              </a:rPr>
              <a:t> + </a:t>
            </a:r>
            <a:r>
              <a:rPr lang="de-DE" dirty="0" err="1">
                <a:latin typeface="Consolas"/>
              </a:rPr>
              <a:t>caret</a:t>
            </a:r>
            <a:r>
              <a:rPr lang="de-DE" dirty="0">
                <a:ea typeface="+mn-lt"/>
                <a:cs typeface="+mn-lt"/>
              </a:rPr>
              <a:t>) mit 5-fold Cross-Validation, ROC als Metrik</a:t>
            </a:r>
            <a:endParaRPr lang="de-DE" dirty="0"/>
          </a:p>
          <a:p>
            <a:r>
              <a:rPr lang="de-DE" b="1">
                <a:ea typeface="+mn-lt"/>
                <a:cs typeface="+mn-lt"/>
              </a:rPr>
              <a:t>Vorhersage-Raster</a:t>
            </a:r>
            <a:r>
              <a:rPr lang="de-DE">
                <a:ea typeface="+mn-lt"/>
                <a:cs typeface="+mn-lt"/>
              </a:rPr>
              <a:t> erstellen; Gitterpunkte über ganz Bayern</a:t>
            </a:r>
            <a:endParaRPr lang="de-DE"/>
          </a:p>
          <a:p>
            <a:r>
              <a:rPr lang="de-DE" b="1" dirty="0" err="1">
                <a:ea typeface="+mn-lt"/>
                <a:cs typeface="+mn-lt"/>
              </a:rPr>
              <a:t>terra</a:t>
            </a:r>
            <a:r>
              <a:rPr lang="de-DE" b="1" dirty="0">
                <a:ea typeface="+mn-lt"/>
                <a:cs typeface="+mn-lt"/>
              </a:rPr>
              <a:t>-Raster: </a:t>
            </a:r>
            <a:r>
              <a:rPr lang="de-DE" dirty="0">
                <a:ea typeface="+mn-lt"/>
                <a:cs typeface="+mn-lt"/>
              </a:rPr>
              <a:t>Ausgabe als </a:t>
            </a:r>
            <a:r>
              <a:rPr lang="de-DE" dirty="0" err="1">
                <a:ea typeface="+mn-lt"/>
                <a:cs typeface="+mn-lt"/>
              </a:rPr>
              <a:t>GeoTIFF</a:t>
            </a:r>
            <a:r>
              <a:rPr lang="de-DE" dirty="0">
                <a:ea typeface="+mn-lt"/>
                <a:cs typeface="+mn-lt"/>
              </a:rPr>
              <a:t> (für QGIS direkt nutzbar)</a:t>
            </a:r>
            <a:endParaRPr lang="de-DE" dirty="0"/>
          </a:p>
          <a:p>
            <a:r>
              <a:rPr lang="de-DE" b="1">
                <a:ea typeface="+mn-lt"/>
                <a:cs typeface="+mn-lt"/>
              </a:rPr>
              <a:t>ggplot2-Heatmap:</a:t>
            </a:r>
            <a:r>
              <a:rPr lang="de-DE" b="1" dirty="0">
                <a:latin typeface="Aptos"/>
                <a:ea typeface="+mn-lt"/>
                <a:cs typeface="+mn-lt"/>
              </a:rPr>
              <a:t> </a:t>
            </a:r>
            <a:r>
              <a:rPr lang="de-DE">
                <a:latin typeface="Consolas"/>
                <a:ea typeface="+mn-lt"/>
                <a:cs typeface="+mn-lt"/>
              </a:rPr>
              <a:t>viridis</a:t>
            </a:r>
            <a:r>
              <a:rPr lang="de-DE">
                <a:latin typeface="Consolas"/>
              </a:rPr>
              <a:t>/magma</a:t>
            </a:r>
            <a:r>
              <a:rPr lang="de-DE">
                <a:ea typeface="+mn-lt"/>
                <a:cs typeface="+mn-lt"/>
              </a:rPr>
              <a:t>-Farbskala + bekannte Fundorte als gelbe Punkte</a:t>
            </a:r>
            <a:endParaRPr lang="de-DE"/>
          </a:p>
          <a:p>
            <a:r>
              <a:rPr lang="de-DE" b="1" dirty="0">
                <a:ea typeface="+mn-lt"/>
                <a:cs typeface="+mn-lt"/>
              </a:rPr>
              <a:t>Evaluation</a:t>
            </a:r>
            <a:r>
              <a:rPr lang="de-DE" dirty="0">
                <a:ea typeface="+mn-lt"/>
                <a:cs typeface="+mn-lt"/>
              </a:rPr>
              <a:t> des Modells, auf AUC, </a:t>
            </a:r>
            <a:r>
              <a:rPr lang="de-DE" dirty="0" err="1">
                <a:ea typeface="+mn-lt"/>
                <a:cs typeface="+mn-lt"/>
              </a:rPr>
              <a:t>Sensitivity</a:t>
            </a:r>
            <a:r>
              <a:rPr lang="de-DE" dirty="0">
                <a:ea typeface="+mn-lt"/>
                <a:cs typeface="+mn-lt"/>
              </a:rPr>
              <a:t>, </a:t>
            </a:r>
            <a:r>
              <a:rPr lang="de-DE" dirty="0" err="1">
                <a:ea typeface="+mn-lt"/>
                <a:cs typeface="+mn-lt"/>
              </a:rPr>
              <a:t>Specificity</a:t>
            </a:r>
            <a:r>
              <a:rPr lang="de-DE" dirty="0">
                <a:ea typeface="+mn-lt"/>
                <a:cs typeface="+mn-lt"/>
              </a:rPr>
              <a:t>, Konfusionsmatrix</a:t>
            </a: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05309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CD9B2D-61F1-8A21-774E-13BCA4302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Erste Versuche</a:t>
            </a:r>
          </a:p>
        </p:txBody>
      </p:sp>
      <p:pic>
        <p:nvPicPr>
          <p:cNvPr id="7" name="Inhaltsplatzhalter 6" descr="Ein Bild, das Text, Diagramm enthält.&#10;&#10;KI-generierte Inhalte können fehlerhaft sein.">
            <a:extLst>
              <a:ext uri="{FF2B5EF4-FFF2-40B4-BE49-F238E27FC236}">
                <a16:creationId xmlns:a16="http://schemas.microsoft.com/office/drawing/2014/main" id="{6BC7EBDF-377A-B01F-606A-7E954FB30F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5108" y="1825625"/>
            <a:ext cx="580178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534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B7F988-07B2-386D-1917-C330EF44C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Beobachtungen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53FCD3E-C12E-8DBF-9A14-B54962669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Bottleneck bei:</a:t>
            </a:r>
            <a:br>
              <a:rPr lang="de-DE" dirty="0"/>
            </a:br>
            <a:r>
              <a:rPr lang="de-DE" sz="2400" dirty="0" err="1">
                <a:solidFill>
                  <a:srgbClr val="9CDCFE"/>
                </a:solidFill>
                <a:highlight>
                  <a:srgbClr val="1E1E1E"/>
                </a:highlight>
                <a:latin typeface="Consolas"/>
              </a:rPr>
              <a:t>presence_sf</a:t>
            </a:r>
            <a:r>
              <a:rPr lang="de-DE" sz="2400" dirty="0">
                <a:solidFill>
                  <a:srgbClr val="D4D4D4"/>
                </a:solidFill>
                <a:highlight>
                  <a:srgbClr val="1E1E1E"/>
                </a:highlight>
                <a:latin typeface="Consolas"/>
              </a:rPr>
              <a:t> &lt;- </a:t>
            </a:r>
            <a:r>
              <a:rPr lang="de-DE" sz="2400" dirty="0" err="1">
                <a:solidFill>
                  <a:srgbClr val="DCDCAA"/>
                </a:solidFill>
                <a:highlight>
                  <a:srgbClr val="1E1E1E"/>
                </a:highlight>
                <a:latin typeface="Consolas"/>
              </a:rPr>
              <a:t>st_as_sf</a:t>
            </a:r>
            <a:r>
              <a:rPr lang="de-DE" sz="2400" dirty="0">
                <a:solidFill>
                  <a:srgbClr val="D4D4D4"/>
                </a:solidFill>
                <a:highlight>
                  <a:srgbClr val="1E1E1E"/>
                </a:highlight>
                <a:latin typeface="Consolas"/>
              </a:rPr>
              <a:t>(</a:t>
            </a:r>
            <a:r>
              <a:rPr lang="de-DE" sz="2400" dirty="0" err="1">
                <a:solidFill>
                  <a:srgbClr val="9CDCFE"/>
                </a:solidFill>
                <a:highlight>
                  <a:srgbClr val="1E1E1E"/>
                </a:highlight>
                <a:latin typeface="Consolas"/>
              </a:rPr>
              <a:t>presence_df</a:t>
            </a:r>
            <a:r>
              <a:rPr lang="de-DE" sz="2400" dirty="0">
                <a:solidFill>
                  <a:srgbClr val="D4D4D4"/>
                </a:solidFill>
                <a:highlight>
                  <a:srgbClr val="1E1E1E"/>
                </a:highlight>
                <a:latin typeface="Consolas"/>
              </a:rPr>
              <a:t>, </a:t>
            </a:r>
            <a:r>
              <a:rPr lang="de-DE" sz="2400" dirty="0" err="1">
                <a:solidFill>
                  <a:srgbClr val="9CDCFE"/>
                </a:solidFill>
                <a:highlight>
                  <a:srgbClr val="1E1E1E"/>
                </a:highlight>
                <a:latin typeface="Consolas"/>
              </a:rPr>
              <a:t>coords</a:t>
            </a:r>
            <a:r>
              <a:rPr lang="de-DE" sz="2400" dirty="0">
                <a:solidFill>
                  <a:srgbClr val="D4D4D4"/>
                </a:solidFill>
                <a:highlight>
                  <a:srgbClr val="1E1E1E"/>
                </a:highlight>
                <a:latin typeface="Consolas"/>
              </a:rPr>
              <a:t> = </a:t>
            </a:r>
            <a:r>
              <a:rPr lang="de-DE" sz="2400" dirty="0">
                <a:solidFill>
                  <a:srgbClr val="DCDCAA"/>
                </a:solidFill>
                <a:highlight>
                  <a:srgbClr val="1E1E1E"/>
                </a:highlight>
                <a:latin typeface="Consolas"/>
              </a:rPr>
              <a:t>c</a:t>
            </a:r>
            <a:r>
              <a:rPr lang="de-DE" sz="2400" dirty="0">
                <a:solidFill>
                  <a:srgbClr val="D4D4D4"/>
                </a:solidFill>
                <a:highlight>
                  <a:srgbClr val="1E1E1E"/>
                </a:highlight>
                <a:latin typeface="Consolas"/>
              </a:rPr>
              <a:t>(</a:t>
            </a:r>
            <a:r>
              <a:rPr lang="de-DE" sz="2400" dirty="0">
                <a:solidFill>
                  <a:srgbClr val="CE9178"/>
                </a:solidFill>
                <a:highlight>
                  <a:srgbClr val="1E1E1E"/>
                </a:highlight>
                <a:latin typeface="Consolas"/>
              </a:rPr>
              <a:t>"</a:t>
            </a:r>
            <a:r>
              <a:rPr lang="de-DE" sz="2400" dirty="0" err="1">
                <a:solidFill>
                  <a:srgbClr val="CE9178"/>
                </a:solidFill>
                <a:highlight>
                  <a:srgbClr val="1E1E1E"/>
                </a:highlight>
                <a:latin typeface="Consolas"/>
              </a:rPr>
              <a:t>lng</a:t>
            </a:r>
            <a:r>
              <a:rPr lang="de-DE" sz="2400" dirty="0">
                <a:solidFill>
                  <a:srgbClr val="CE9178"/>
                </a:solidFill>
                <a:highlight>
                  <a:srgbClr val="1E1E1E"/>
                </a:highlight>
                <a:latin typeface="Consolas"/>
              </a:rPr>
              <a:t>"</a:t>
            </a:r>
            <a:r>
              <a:rPr lang="de-DE" sz="2400" dirty="0">
                <a:solidFill>
                  <a:srgbClr val="D4D4D4"/>
                </a:solidFill>
                <a:highlight>
                  <a:srgbClr val="1E1E1E"/>
                </a:highlight>
                <a:latin typeface="Consolas"/>
              </a:rPr>
              <a:t>, </a:t>
            </a:r>
            <a:r>
              <a:rPr lang="de-DE" sz="2400" dirty="0">
                <a:solidFill>
                  <a:srgbClr val="CE9178"/>
                </a:solidFill>
                <a:highlight>
                  <a:srgbClr val="1E1E1E"/>
                </a:highlight>
                <a:latin typeface="Consolas"/>
              </a:rPr>
              <a:t>"</a:t>
            </a:r>
            <a:r>
              <a:rPr lang="de-DE" sz="2400" dirty="0" err="1">
                <a:solidFill>
                  <a:srgbClr val="CE9178"/>
                </a:solidFill>
                <a:highlight>
                  <a:srgbClr val="1E1E1E"/>
                </a:highlight>
                <a:latin typeface="Consolas"/>
              </a:rPr>
              <a:t>lat</a:t>
            </a:r>
            <a:r>
              <a:rPr lang="de-DE" sz="2400" dirty="0">
                <a:solidFill>
                  <a:srgbClr val="CE9178"/>
                </a:solidFill>
                <a:highlight>
                  <a:srgbClr val="1E1E1E"/>
                </a:highlight>
                <a:latin typeface="Consolas"/>
              </a:rPr>
              <a:t>"</a:t>
            </a:r>
            <a:r>
              <a:rPr lang="de-DE" sz="2400" dirty="0">
                <a:solidFill>
                  <a:srgbClr val="D4D4D4"/>
                </a:solidFill>
                <a:highlight>
                  <a:srgbClr val="1E1E1E"/>
                </a:highlight>
                <a:latin typeface="Consolas"/>
              </a:rPr>
              <a:t>), </a:t>
            </a:r>
            <a:r>
              <a:rPr lang="de-DE" sz="2400" dirty="0" err="1">
                <a:solidFill>
                  <a:srgbClr val="9CDCFE"/>
                </a:solidFill>
                <a:highlight>
                  <a:srgbClr val="1E1E1E"/>
                </a:highlight>
                <a:latin typeface="Consolas"/>
              </a:rPr>
              <a:t>crs</a:t>
            </a:r>
            <a:r>
              <a:rPr lang="de-DE" sz="2400" dirty="0">
                <a:solidFill>
                  <a:srgbClr val="D4D4D4"/>
                </a:solidFill>
                <a:highlight>
                  <a:srgbClr val="1E1E1E"/>
                </a:highlight>
                <a:latin typeface="Consolas"/>
              </a:rPr>
              <a:t> = </a:t>
            </a:r>
            <a:r>
              <a:rPr lang="de-DE" sz="2400" dirty="0">
                <a:solidFill>
                  <a:srgbClr val="B5CEA8"/>
                </a:solidFill>
                <a:highlight>
                  <a:srgbClr val="1E1E1E"/>
                </a:highlight>
                <a:latin typeface="Consolas"/>
              </a:rPr>
              <a:t>4326</a:t>
            </a:r>
            <a:r>
              <a:rPr lang="de-DE" sz="2400" dirty="0">
                <a:solidFill>
                  <a:srgbClr val="D4D4D4"/>
                </a:solidFill>
                <a:highlight>
                  <a:srgbClr val="1E1E1E"/>
                </a:highlight>
                <a:latin typeface="Consolas"/>
              </a:rPr>
              <a:t>)</a:t>
            </a:r>
            <a:br>
              <a:rPr lang="de-DE" sz="2400" dirty="0">
                <a:solidFill>
                  <a:srgbClr val="D4D4D4"/>
                </a:solidFill>
                <a:highlight>
                  <a:srgbClr val="1E1E1E"/>
                </a:highlight>
                <a:latin typeface="Consolas"/>
              </a:rPr>
            </a:br>
            <a:r>
              <a:rPr lang="de-DE" sz="2400" dirty="0" err="1">
                <a:solidFill>
                  <a:srgbClr val="9CDCFE"/>
                </a:solidFill>
                <a:highlight>
                  <a:srgbClr val="1E1E1E"/>
                </a:highlight>
                <a:latin typeface="Consolas"/>
              </a:rPr>
              <a:t>dist_matrix</a:t>
            </a:r>
            <a:r>
              <a:rPr lang="de-DE" sz="2400" dirty="0">
                <a:solidFill>
                  <a:srgbClr val="D4D4D4"/>
                </a:solidFill>
                <a:highlight>
                  <a:srgbClr val="1E1E1E"/>
                </a:highlight>
                <a:latin typeface="Consolas"/>
              </a:rPr>
              <a:t>  &lt;- </a:t>
            </a:r>
            <a:r>
              <a:rPr lang="de-DE" sz="2400" dirty="0" err="1">
                <a:solidFill>
                  <a:srgbClr val="DCDCAA"/>
                </a:solidFill>
                <a:highlight>
                  <a:srgbClr val="1E1E1E"/>
                </a:highlight>
                <a:latin typeface="Consolas"/>
              </a:rPr>
              <a:t>st_distance</a:t>
            </a:r>
            <a:r>
              <a:rPr lang="de-DE" sz="2400" dirty="0">
                <a:solidFill>
                  <a:srgbClr val="D4D4D4"/>
                </a:solidFill>
                <a:highlight>
                  <a:srgbClr val="1E1E1E"/>
                </a:highlight>
                <a:latin typeface="Consolas"/>
              </a:rPr>
              <a:t>(</a:t>
            </a:r>
            <a:r>
              <a:rPr lang="de-DE" sz="2400" dirty="0" err="1">
                <a:solidFill>
                  <a:srgbClr val="9CDCFE"/>
                </a:solidFill>
                <a:highlight>
                  <a:srgbClr val="1E1E1E"/>
                </a:highlight>
                <a:latin typeface="Consolas"/>
              </a:rPr>
              <a:t>absence_pts</a:t>
            </a:r>
            <a:r>
              <a:rPr lang="de-DE" sz="2400" dirty="0">
                <a:solidFill>
                  <a:srgbClr val="D4D4D4"/>
                </a:solidFill>
                <a:highlight>
                  <a:srgbClr val="1E1E1E"/>
                </a:highlight>
                <a:latin typeface="Consolas"/>
              </a:rPr>
              <a:t>, </a:t>
            </a:r>
            <a:r>
              <a:rPr lang="de-DE" sz="2400" dirty="0" err="1">
                <a:solidFill>
                  <a:srgbClr val="9CDCFE"/>
                </a:solidFill>
                <a:highlight>
                  <a:srgbClr val="1E1E1E"/>
                </a:highlight>
                <a:latin typeface="Consolas"/>
              </a:rPr>
              <a:t>presence_sf</a:t>
            </a:r>
            <a:r>
              <a:rPr lang="de-DE" sz="2400" dirty="0">
                <a:solidFill>
                  <a:srgbClr val="D4D4D4"/>
                </a:solidFill>
                <a:highlight>
                  <a:srgbClr val="1E1E1E"/>
                </a:highlight>
                <a:latin typeface="Consolas"/>
              </a:rPr>
              <a:t>)</a:t>
            </a:r>
            <a:br>
              <a:rPr lang="de-DE" sz="2400" dirty="0">
                <a:solidFill>
                  <a:srgbClr val="D4D4D4"/>
                </a:solidFill>
                <a:highlight>
                  <a:srgbClr val="1E1E1E"/>
                </a:highlight>
                <a:latin typeface="Consolas"/>
              </a:rPr>
            </a:br>
            <a:r>
              <a:rPr lang="de-DE" sz="2400" dirty="0" err="1">
                <a:solidFill>
                  <a:srgbClr val="9CDCFE"/>
                </a:solidFill>
                <a:highlight>
                  <a:srgbClr val="1E1E1E"/>
                </a:highlight>
                <a:latin typeface="Consolas"/>
              </a:rPr>
              <a:t>min_dist_m</a:t>
            </a:r>
            <a:r>
              <a:rPr lang="de-DE" sz="2400" dirty="0">
                <a:solidFill>
                  <a:srgbClr val="D4D4D4"/>
                </a:solidFill>
                <a:highlight>
                  <a:srgbClr val="1E1E1E"/>
                </a:highlight>
                <a:latin typeface="Consolas"/>
              </a:rPr>
              <a:t>   &lt;- </a:t>
            </a:r>
            <a:r>
              <a:rPr lang="de-DE" sz="2400" dirty="0" err="1">
                <a:solidFill>
                  <a:srgbClr val="DCDCAA"/>
                </a:solidFill>
                <a:highlight>
                  <a:srgbClr val="1E1E1E"/>
                </a:highlight>
                <a:latin typeface="Consolas"/>
              </a:rPr>
              <a:t>apply</a:t>
            </a:r>
            <a:r>
              <a:rPr lang="de-DE" sz="2400" dirty="0">
                <a:solidFill>
                  <a:srgbClr val="D4D4D4"/>
                </a:solidFill>
                <a:highlight>
                  <a:srgbClr val="1E1E1E"/>
                </a:highlight>
                <a:latin typeface="Consolas"/>
              </a:rPr>
              <a:t>(</a:t>
            </a:r>
            <a:r>
              <a:rPr lang="de-DE" sz="2400" dirty="0" err="1">
                <a:solidFill>
                  <a:srgbClr val="9CDCFE"/>
                </a:solidFill>
                <a:highlight>
                  <a:srgbClr val="1E1E1E"/>
                </a:highlight>
                <a:latin typeface="Consolas"/>
              </a:rPr>
              <a:t>dist_matrix</a:t>
            </a:r>
            <a:r>
              <a:rPr lang="de-DE" sz="2400" dirty="0">
                <a:solidFill>
                  <a:srgbClr val="D4D4D4"/>
                </a:solidFill>
                <a:highlight>
                  <a:srgbClr val="1E1E1E"/>
                </a:highlight>
                <a:latin typeface="Consolas"/>
              </a:rPr>
              <a:t>, </a:t>
            </a:r>
            <a:r>
              <a:rPr lang="de-DE" sz="2400" dirty="0">
                <a:solidFill>
                  <a:srgbClr val="B5CEA8"/>
                </a:solidFill>
                <a:highlight>
                  <a:srgbClr val="1E1E1E"/>
                </a:highlight>
                <a:latin typeface="Consolas"/>
              </a:rPr>
              <a:t>1</a:t>
            </a:r>
            <a:r>
              <a:rPr lang="de-DE" sz="2400" dirty="0">
                <a:solidFill>
                  <a:srgbClr val="D4D4D4"/>
                </a:solidFill>
                <a:highlight>
                  <a:srgbClr val="1E1E1E"/>
                </a:highlight>
                <a:latin typeface="Consolas"/>
              </a:rPr>
              <a:t>, </a:t>
            </a:r>
            <a:r>
              <a:rPr lang="de-DE" sz="2400" dirty="0">
                <a:solidFill>
                  <a:srgbClr val="9CDCFE"/>
                </a:solidFill>
                <a:highlight>
                  <a:srgbClr val="1E1E1E"/>
                </a:highlight>
                <a:latin typeface="Consolas"/>
              </a:rPr>
              <a:t>min</a:t>
            </a:r>
            <a:r>
              <a:rPr lang="de-DE" sz="2400" dirty="0">
                <a:solidFill>
                  <a:srgbClr val="D4D4D4"/>
                </a:solidFill>
                <a:highlight>
                  <a:srgbClr val="1E1E1E"/>
                </a:highlight>
                <a:latin typeface="Consolas"/>
              </a:rPr>
              <a:t>)</a:t>
            </a:r>
            <a:endParaRPr lang="de-DE" sz="240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23711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C9CC91-7F74-6828-C089-14BD527E2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Ideen / Vorhaben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00E021-A602-8026-229A-7BB14E750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b="1" dirty="0">
                <a:ea typeface="+mn-lt"/>
                <a:cs typeface="+mn-lt"/>
              </a:rPr>
              <a:t>Modell-Alternativen:</a:t>
            </a:r>
            <a:r>
              <a:rPr lang="de-DE" dirty="0">
                <a:ea typeface="+mn-lt"/>
                <a:cs typeface="+mn-lt"/>
              </a:rPr>
              <a:t> Random Forest ist unser Basismodell. </a:t>
            </a:r>
            <a:r>
              <a:rPr lang="de-DE" dirty="0" err="1">
                <a:ea typeface="+mn-lt"/>
                <a:cs typeface="+mn-lt"/>
              </a:rPr>
              <a:t>MaxENT</a:t>
            </a:r>
            <a:r>
              <a:rPr lang="de-DE" dirty="0">
                <a:ea typeface="+mn-lt"/>
                <a:cs typeface="+mn-lt"/>
              </a:rPr>
              <a:t> ist in der archäologischen Fachliteratur weit verbreitet, da es rein mit </a:t>
            </a:r>
            <a:r>
              <a:rPr lang="de-DE" dirty="0" err="1">
                <a:ea typeface="+mn-lt"/>
                <a:cs typeface="+mn-lt"/>
              </a:rPr>
              <a:t>Presences</a:t>
            </a:r>
            <a:r>
              <a:rPr lang="de-DE" dirty="0">
                <a:ea typeface="+mn-lt"/>
                <a:cs typeface="+mn-lt"/>
              </a:rPr>
              <a:t> arbeitet. Beide parallel trainieren und die ROC-AUCs vergleichen.</a:t>
            </a:r>
          </a:p>
          <a:p>
            <a:r>
              <a:rPr lang="de-DE" b="1" dirty="0">
                <a:ea typeface="+mn-lt"/>
                <a:cs typeface="+mn-lt"/>
              </a:rPr>
              <a:t>Pseudo-</a:t>
            </a:r>
            <a:r>
              <a:rPr lang="de-DE" b="1" dirty="0" err="1">
                <a:ea typeface="+mn-lt"/>
                <a:cs typeface="+mn-lt"/>
              </a:rPr>
              <a:t>Absences</a:t>
            </a:r>
            <a:r>
              <a:rPr lang="de-DE" b="1" dirty="0">
                <a:ea typeface="+mn-lt"/>
                <a:cs typeface="+mn-lt"/>
              </a:rPr>
              <a:t> &amp; Bias:</a:t>
            </a:r>
            <a:r>
              <a:rPr lang="de-DE" dirty="0">
                <a:ea typeface="+mn-lt"/>
                <a:cs typeface="+mn-lt"/>
              </a:rPr>
              <a:t> Unsere Pseudo-</a:t>
            </a:r>
            <a:r>
              <a:rPr lang="de-DE" dirty="0" err="1">
                <a:ea typeface="+mn-lt"/>
                <a:cs typeface="+mn-lt"/>
              </a:rPr>
              <a:t>Absences</a:t>
            </a:r>
            <a:r>
              <a:rPr lang="de-DE" dirty="0">
                <a:ea typeface="+mn-lt"/>
                <a:cs typeface="+mn-lt"/>
              </a:rPr>
              <a:t> werden zufällig innerhalb Bayerns generiert. Stattdessen aus </a:t>
            </a:r>
            <a:r>
              <a:rPr lang="de-DE" i="1" dirty="0" err="1">
                <a:ea typeface="+mn-lt"/>
                <a:cs typeface="+mn-lt"/>
              </a:rPr>
              <a:t>sampling</a:t>
            </a:r>
            <a:r>
              <a:rPr lang="de-DE" i="1" dirty="0">
                <a:ea typeface="+mn-lt"/>
                <a:cs typeface="+mn-lt"/>
              </a:rPr>
              <a:t> </a:t>
            </a:r>
            <a:r>
              <a:rPr lang="de-DE" i="1" dirty="0" err="1">
                <a:ea typeface="+mn-lt"/>
                <a:cs typeface="+mn-lt"/>
              </a:rPr>
              <a:t>bias</a:t>
            </a:r>
            <a:r>
              <a:rPr lang="de-DE" i="1" dirty="0">
                <a:ea typeface="+mn-lt"/>
                <a:cs typeface="+mn-lt"/>
              </a:rPr>
              <a:t> </a:t>
            </a:r>
            <a:r>
              <a:rPr lang="de-DE" i="1" dirty="0" err="1">
                <a:ea typeface="+mn-lt"/>
                <a:cs typeface="+mn-lt"/>
              </a:rPr>
              <a:t>layer</a:t>
            </a:r>
            <a:r>
              <a:rPr lang="de-DE" dirty="0">
                <a:ea typeface="+mn-lt"/>
                <a:cs typeface="+mn-lt"/>
              </a:rPr>
              <a:t> ziehen, also aus Regionen, die ähnlich gut prospektiert wurden wie die Fundorte.</a:t>
            </a:r>
          </a:p>
          <a:p>
            <a:r>
              <a:rPr lang="de-DE" b="1" dirty="0">
                <a:ea typeface="+mn-lt"/>
                <a:cs typeface="+mn-lt"/>
              </a:rPr>
              <a:t>Raster-Auflösung vs. Rechenzeit:</a:t>
            </a:r>
            <a:r>
              <a:rPr lang="de-DE" dirty="0">
                <a:ea typeface="+mn-lt"/>
                <a:cs typeface="+mn-lt"/>
              </a:rPr>
              <a:t> Parallele Verarbeitung via </a:t>
            </a:r>
            <a:r>
              <a:rPr lang="de-DE" dirty="0" err="1">
                <a:latin typeface="Consolas"/>
              </a:rPr>
              <a:t>future</a:t>
            </a:r>
            <a:r>
              <a:rPr lang="de-DE" dirty="0">
                <a:ea typeface="+mn-lt"/>
                <a:cs typeface="+mn-lt"/>
              </a:rPr>
              <a:t>/</a:t>
            </a:r>
            <a:r>
              <a:rPr lang="de-DE" dirty="0">
                <a:latin typeface="Consolas"/>
              </a:rPr>
              <a:t>parallel</a:t>
            </a:r>
            <a:r>
              <a:rPr lang="de-DE" dirty="0">
                <a:latin typeface="Consolas"/>
                <a:ea typeface="+mn-lt"/>
                <a:cs typeface="+mn-lt"/>
              </a:rPr>
              <a:t>,</a:t>
            </a:r>
            <a:r>
              <a:rPr lang="de-DE" dirty="0">
                <a:ea typeface="+mn-lt"/>
                <a:cs typeface="+mn-lt"/>
              </a:rPr>
              <a:t> für bessere Auflösung.</a:t>
            </a:r>
          </a:p>
        </p:txBody>
      </p:sp>
    </p:spTree>
    <p:extLst>
      <p:ext uri="{BB962C8B-B14F-4D97-AF65-F5344CB8AC3E}">
        <p14:creationId xmlns:p14="http://schemas.microsoft.com/office/powerpoint/2010/main" val="163303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5CCAC-A6CA-926E-A14B-7A26D7646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E4E44F-BAA7-C705-8E78-FF6CC3A9E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Ideen / Vorhaben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7B4579-4EA3-C3CB-B6ED-C12366A65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b="1" dirty="0">
                <a:ea typeface="+mn-lt"/>
                <a:cs typeface="+mn-lt"/>
              </a:rPr>
              <a:t>MSQR als </a:t>
            </a:r>
            <a:r>
              <a:rPr lang="de-DE" b="1">
                <a:ea typeface="+mn-lt"/>
                <a:cs typeface="+mn-lt"/>
              </a:rPr>
              <a:t>Prädiktor / historische</a:t>
            </a:r>
            <a:r>
              <a:rPr lang="de-DE" b="1" dirty="0">
                <a:ea typeface="+mn-lt"/>
                <a:cs typeface="+mn-lt"/>
              </a:rPr>
              <a:t> Validität:</a:t>
            </a:r>
            <a:r>
              <a:rPr lang="de-DE" dirty="0">
                <a:ea typeface="+mn-lt"/>
                <a:cs typeface="+mn-lt"/>
              </a:rPr>
              <a:t> Das Müncheberg Soil Quality Rating bewertet Böden nach modernen landwirtschaftlichen Maßstäben. </a:t>
            </a:r>
            <a:r>
              <a:rPr lang="de-DE">
                <a:ea typeface="+mn-lt"/>
                <a:cs typeface="+mn-lt"/>
              </a:rPr>
              <a:t>Bodenparameter finden, die für die Eisenzeit spezifisch relevanter wären, </a:t>
            </a:r>
            <a:r>
              <a:rPr lang="de-DE" dirty="0">
                <a:ea typeface="+mn-lt"/>
                <a:cs typeface="+mn-lt"/>
              </a:rPr>
              <a:t>z.B. </a:t>
            </a:r>
            <a:r>
              <a:rPr lang="de-DE">
                <a:ea typeface="+mn-lt"/>
                <a:cs typeface="+mn-lt"/>
              </a:rPr>
              <a:t>Drainageverhältnisse oder Humusgehalt.</a:t>
            </a:r>
          </a:p>
          <a:p>
            <a:r>
              <a:rPr lang="de-DE" b="1">
                <a:ea typeface="+mn-lt"/>
                <a:cs typeface="+mn-lt"/>
              </a:rPr>
              <a:t>Bayern-Atlas </a:t>
            </a:r>
            <a:r>
              <a:rPr lang="de-DE">
                <a:ea typeface="+mn-lt"/>
                <a:cs typeface="+mn-lt"/>
              </a:rPr>
              <a:t>nutzen, für zusätzliche Informationen </a:t>
            </a:r>
            <a:br>
              <a:rPr lang="de-DE" dirty="0">
                <a:ea typeface="+mn-lt"/>
                <a:cs typeface="+mn-lt"/>
              </a:rPr>
            </a:br>
            <a:r>
              <a:rPr lang="de-DE">
                <a:ea typeface="+mn-lt"/>
                <a:cs typeface="+mn-lt"/>
              </a:rPr>
              <a:t>(https://atlas.bayern.de)</a:t>
            </a:r>
          </a:p>
          <a:p>
            <a:endParaRPr lang="de-DE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96105368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arissa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7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8" baseType="lpstr">
      <vt:lpstr>Larissa</vt:lpstr>
      <vt:lpstr>Data Challenges </vt:lpstr>
      <vt:lpstr>Vorgehen</vt:lpstr>
      <vt:lpstr>R Skript Aufbau</vt:lpstr>
      <vt:lpstr>Erste Versuche</vt:lpstr>
      <vt:lpstr>Beobachtungen</vt:lpstr>
      <vt:lpstr>Ideen / Vorhaben</vt:lpstr>
      <vt:lpstr>Ideen / Vorhaben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87</cp:revision>
  <dcterms:created xsi:type="dcterms:W3CDTF">2026-06-03T16:23:37Z</dcterms:created>
  <dcterms:modified xsi:type="dcterms:W3CDTF">2026-06-03T16:50:49Z</dcterms:modified>
</cp:coreProperties>
</file>