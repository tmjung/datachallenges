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57" r:id="rId4"/>
    <p:sldId id="258" r:id="rId5"/>
    <p:sldId id="259" r:id="rId6"/>
    <p:sldId id="261" r:id="rId7"/>
    <p:sldId id="262" r:id="rId8"/>
    <p:sldId id="264" r:id="rId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82" d="100"/>
          <a:sy n="82" d="100"/>
        </p:scale>
        <p:origin x="53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Formatvorlage des Untertitelmasters durch Klicken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B3054-B75A-4BD7-8B3E-8DC0F614FAF3}" type="datetimeFigureOut">
              <a:rPr lang="de-DE" smtClean="0"/>
              <a:t>08.06.2026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006FE-6571-4354-8775-F8708372C22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431669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B3054-B75A-4BD7-8B3E-8DC0F614FAF3}" type="datetimeFigureOut">
              <a:rPr lang="de-DE" smtClean="0"/>
              <a:t>08.06.2026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006FE-6571-4354-8775-F8708372C22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332005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B3054-B75A-4BD7-8B3E-8DC0F614FAF3}" type="datetimeFigureOut">
              <a:rPr lang="de-DE" smtClean="0"/>
              <a:t>08.06.2026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006FE-6571-4354-8775-F8708372C22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355856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B3054-B75A-4BD7-8B3E-8DC0F614FAF3}" type="datetimeFigureOut">
              <a:rPr lang="de-DE" smtClean="0"/>
              <a:t>08.06.2026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006FE-6571-4354-8775-F8708372C22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429017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B3054-B75A-4BD7-8B3E-8DC0F614FAF3}" type="datetimeFigureOut">
              <a:rPr lang="de-DE" smtClean="0"/>
              <a:t>08.06.2026</a:t>
            </a:fld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006FE-6571-4354-8775-F8708372C22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240840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B3054-B75A-4BD7-8B3E-8DC0F614FAF3}" type="datetimeFigureOut">
              <a:rPr lang="de-DE" smtClean="0"/>
              <a:t>08.06.2026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006FE-6571-4354-8775-F8708372C22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402064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B3054-B75A-4BD7-8B3E-8DC0F614FAF3}" type="datetimeFigureOut">
              <a:rPr lang="de-DE" smtClean="0"/>
              <a:t>08.06.2026</a:t>
            </a:fld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006FE-6571-4354-8775-F8708372C22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876928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B3054-B75A-4BD7-8B3E-8DC0F614FAF3}" type="datetimeFigureOut">
              <a:rPr lang="de-DE" smtClean="0"/>
              <a:t>08.06.2026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006FE-6571-4354-8775-F8708372C22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538832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B3054-B75A-4BD7-8B3E-8DC0F614FAF3}" type="datetimeFigureOut">
              <a:rPr lang="de-DE" smtClean="0"/>
              <a:t>08.06.2026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006FE-6571-4354-8775-F8708372C22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098887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B3054-B75A-4BD7-8B3E-8DC0F614FAF3}" type="datetimeFigureOut">
              <a:rPr lang="de-DE" smtClean="0"/>
              <a:t>08.06.2026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006FE-6571-4354-8775-F8708372C22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992067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B3054-B75A-4BD7-8B3E-8DC0F614FAF3}" type="datetimeFigureOut">
              <a:rPr lang="de-DE" smtClean="0"/>
              <a:t>08.06.2026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006FE-6571-4354-8775-F8708372C22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099589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EB3054-B75A-4BD7-8B3E-8DC0F614FAF3}" type="datetimeFigureOut">
              <a:rPr lang="de-DE" smtClean="0"/>
              <a:t>08.06.2026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2006FE-6571-4354-8775-F8708372C22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947254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524000" y="1698172"/>
            <a:ext cx="9144000" cy="1845923"/>
          </a:xfrm>
        </p:spPr>
        <p:txBody>
          <a:bodyPr>
            <a:normAutofit/>
          </a:bodyPr>
          <a:lstStyle/>
          <a:p>
            <a:r>
              <a:rPr lang="de-DE" dirty="0"/>
              <a:t>Data Challenges</a:t>
            </a:r>
            <a:br>
              <a:rPr lang="de-DE" dirty="0"/>
            </a:br>
            <a:r>
              <a:rPr lang="de-DE" dirty="0"/>
              <a:t>Zwischenpräsentation 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524000" y="4115222"/>
            <a:ext cx="9144000" cy="165576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ko-KR" altLang="ko-KR" dirty="0" err="1"/>
              <a:t>Toni</a:t>
            </a:r>
            <a:r>
              <a:rPr lang="ko-KR" altLang="ko-KR" dirty="0"/>
              <a:t> </a:t>
            </a:r>
            <a:r>
              <a:rPr lang="ko-KR" altLang="ko-KR" dirty="0" err="1"/>
              <a:t>Jungbeck</a:t>
            </a:r>
            <a:endParaRPr lang="de-DE" dirty="0"/>
          </a:p>
          <a:p>
            <a:r>
              <a:rPr lang="de-DE" dirty="0"/>
              <a:t>8528087 </a:t>
            </a:r>
            <a:r>
              <a:rPr lang="de-DE" dirty="0" err="1"/>
              <a:t>Bonju</a:t>
            </a:r>
            <a:r>
              <a:rPr lang="de-DE" dirty="0"/>
              <a:t> Koo</a:t>
            </a:r>
          </a:p>
        </p:txBody>
      </p:sp>
      <p:pic>
        <p:nvPicPr>
          <p:cNvPr id="4" name="그림 3" descr="Datei:Goethe-Logo.svg">
            <a:extLst>
              <a:ext uri="{FF2B5EF4-FFF2-40B4-BE49-F238E27FC236}">
                <a16:creationId xmlns:a16="http://schemas.microsoft.com/office/drawing/2014/main" id="{98BEFAA7-3947-1298-6C11-A93D2D1EA5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7833" y="112356"/>
            <a:ext cx="2374641" cy="1296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74998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005256-8DC1-7F2A-C5EC-C5FB0A961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Thema: </a:t>
            </a:r>
            <a:r>
              <a:rPr lang="de-DE" altLang="ko-KR" dirty="0" err="1"/>
              <a:t>Predictive</a:t>
            </a:r>
            <a:r>
              <a:rPr lang="de-DE" altLang="ko-KR" dirty="0"/>
              <a:t> Modelling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1A50ED0-0AF3-C877-9996-EC91EB80E6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 err="1"/>
              <a:t>Forschungsfrage</a:t>
            </a:r>
            <a:r>
              <a:rPr lang="en-US" altLang="ko-KR" dirty="0"/>
              <a:t>: </a:t>
            </a:r>
            <a:r>
              <a:rPr lang="ko-KR" altLang="ko-KR" dirty="0" err="1"/>
              <a:t>Welche</a:t>
            </a:r>
            <a:r>
              <a:rPr lang="ko-KR" altLang="ko-KR" dirty="0"/>
              <a:t> </a:t>
            </a:r>
            <a:r>
              <a:rPr lang="ko-KR" altLang="ko-KR" dirty="0" err="1"/>
              <a:t>Umwelt</a:t>
            </a:r>
            <a:r>
              <a:rPr lang="ko-KR" altLang="ko-KR" dirty="0"/>
              <a:t>-, </a:t>
            </a:r>
            <a:r>
              <a:rPr lang="ko-KR" altLang="ko-KR" dirty="0" err="1"/>
              <a:t>Klima</a:t>
            </a:r>
            <a:r>
              <a:rPr lang="ko-KR" altLang="ko-KR" dirty="0"/>
              <a:t>- </a:t>
            </a:r>
            <a:r>
              <a:rPr lang="ko-KR" altLang="ko-KR" dirty="0" err="1"/>
              <a:t>und</a:t>
            </a:r>
            <a:r>
              <a:rPr lang="ko-KR" altLang="ko-KR" dirty="0"/>
              <a:t> </a:t>
            </a:r>
            <a:r>
              <a:rPr lang="ko-KR" altLang="ko-KR" dirty="0" err="1"/>
              <a:t>Bodenfaktoren</a:t>
            </a:r>
            <a:r>
              <a:rPr lang="ko-KR" altLang="ko-KR" dirty="0"/>
              <a:t> </a:t>
            </a:r>
            <a:r>
              <a:rPr lang="ko-KR" altLang="ko-KR" dirty="0" err="1"/>
              <a:t>beeinflussen</a:t>
            </a:r>
            <a:r>
              <a:rPr lang="ko-KR" altLang="ko-KR" dirty="0"/>
              <a:t> </a:t>
            </a:r>
            <a:r>
              <a:rPr lang="ko-KR" altLang="ko-KR" dirty="0" err="1"/>
              <a:t>die</a:t>
            </a:r>
            <a:r>
              <a:rPr lang="ko-KR" altLang="ko-KR" dirty="0"/>
              <a:t> </a:t>
            </a:r>
            <a:r>
              <a:rPr lang="ko-KR" altLang="ko-KR" dirty="0" err="1"/>
              <a:t>Lage</a:t>
            </a:r>
            <a:r>
              <a:rPr lang="ko-KR" altLang="ko-KR" dirty="0"/>
              <a:t> </a:t>
            </a:r>
            <a:r>
              <a:rPr lang="ko-KR" altLang="ko-KR" dirty="0" err="1"/>
              <a:t>eisenzeitlicher</a:t>
            </a:r>
            <a:r>
              <a:rPr lang="ko-KR" altLang="ko-KR" dirty="0"/>
              <a:t> </a:t>
            </a:r>
            <a:r>
              <a:rPr lang="ko-KR" altLang="ko-KR" dirty="0" err="1"/>
              <a:t>Fundorte</a:t>
            </a:r>
            <a:r>
              <a:rPr lang="ko-KR" altLang="ko-KR" dirty="0"/>
              <a:t> </a:t>
            </a:r>
            <a:r>
              <a:rPr lang="ko-KR" altLang="ko-KR" dirty="0" err="1"/>
              <a:t>in</a:t>
            </a:r>
            <a:r>
              <a:rPr lang="ko-KR" altLang="ko-KR" dirty="0"/>
              <a:t> </a:t>
            </a:r>
            <a:r>
              <a:rPr lang="ko-KR" altLang="ko-KR" dirty="0" err="1"/>
              <a:t>Bayern</a:t>
            </a:r>
            <a:r>
              <a:rPr lang="ko-KR" altLang="ko-KR" dirty="0"/>
              <a:t>, </a:t>
            </a:r>
            <a:r>
              <a:rPr lang="ko-KR" altLang="ko-KR" dirty="0" err="1"/>
              <a:t>und</a:t>
            </a:r>
            <a:r>
              <a:rPr lang="ko-KR" altLang="ko-KR" dirty="0"/>
              <a:t> </a:t>
            </a:r>
            <a:r>
              <a:rPr lang="ko-KR" altLang="ko-KR" dirty="0" err="1"/>
              <a:t>können</a:t>
            </a:r>
            <a:r>
              <a:rPr lang="ko-KR" altLang="ko-KR" dirty="0"/>
              <a:t> </a:t>
            </a:r>
            <a:r>
              <a:rPr lang="ko-KR" altLang="ko-KR" dirty="0" err="1"/>
              <a:t>daraus</a:t>
            </a:r>
            <a:r>
              <a:rPr lang="ko-KR" altLang="ko-KR" dirty="0"/>
              <a:t> </a:t>
            </a:r>
            <a:r>
              <a:rPr lang="ko-KR" altLang="ko-KR" dirty="0" err="1"/>
              <a:t>bisher</a:t>
            </a:r>
            <a:r>
              <a:rPr lang="ko-KR" altLang="ko-KR" dirty="0"/>
              <a:t> </a:t>
            </a:r>
            <a:r>
              <a:rPr lang="ko-KR" altLang="ko-KR" dirty="0" err="1"/>
              <a:t>unbekannte</a:t>
            </a:r>
            <a:r>
              <a:rPr lang="ko-KR" altLang="ko-KR" dirty="0"/>
              <a:t> </a:t>
            </a:r>
            <a:r>
              <a:rPr lang="ko-KR" altLang="ko-KR" dirty="0" err="1"/>
              <a:t>Fundortwahrscheinlichkeiten</a:t>
            </a:r>
            <a:r>
              <a:rPr lang="ko-KR" altLang="ko-KR" dirty="0"/>
              <a:t> </a:t>
            </a:r>
            <a:r>
              <a:rPr lang="ko-KR" altLang="ko-KR" dirty="0" err="1"/>
              <a:t>vorhergesagt</a:t>
            </a:r>
            <a:r>
              <a:rPr lang="ko-KR" altLang="ko-KR" dirty="0"/>
              <a:t> </a:t>
            </a:r>
            <a:r>
              <a:rPr lang="ko-KR" altLang="ko-KR" dirty="0" err="1"/>
              <a:t>werden</a:t>
            </a:r>
            <a:r>
              <a:rPr lang="ko-KR" altLang="ko-KR" dirty="0"/>
              <a:t>?</a:t>
            </a:r>
            <a:endParaRPr lang="ko-KR" altLang="en-US" dirty="0"/>
          </a:p>
        </p:txBody>
      </p:sp>
      <p:pic>
        <p:nvPicPr>
          <p:cNvPr id="4" name="그림 3" descr="Datei:Goethe-Logo.svg">
            <a:extLst>
              <a:ext uri="{FF2B5EF4-FFF2-40B4-BE49-F238E27FC236}">
                <a16:creationId xmlns:a16="http://schemas.microsoft.com/office/drawing/2014/main" id="{3C59D73C-C6CF-E7DE-9296-149E71892B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7833" y="112356"/>
            <a:ext cx="2374641" cy="1296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30763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6306DD-9450-F239-BEB4-9601239A60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Vorgehen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44E44B-3CF6-3A14-3CEA-C1FDE76E0F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/>
              <a:t>Programmiersprache R</a:t>
            </a:r>
          </a:p>
          <a:p>
            <a:r>
              <a:rPr lang="de-DE" dirty="0"/>
              <a:t>Model Random Forest</a:t>
            </a:r>
          </a:p>
          <a:p>
            <a:r>
              <a:rPr lang="de-DE" dirty="0" err="1"/>
              <a:t>Heatmap</a:t>
            </a:r>
            <a:r>
              <a:rPr lang="de-DE" dirty="0"/>
              <a:t> mit Wahrscheinlichkeiten</a:t>
            </a:r>
          </a:p>
        </p:txBody>
      </p:sp>
      <p:pic>
        <p:nvPicPr>
          <p:cNvPr id="4" name="그림 3" descr="Datei:Goethe-Logo.svg">
            <a:extLst>
              <a:ext uri="{FF2B5EF4-FFF2-40B4-BE49-F238E27FC236}">
                <a16:creationId xmlns:a16="http://schemas.microsoft.com/office/drawing/2014/main" id="{E11E6F32-73DD-A9C9-09EF-6A4EA4D2DB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7833" y="112356"/>
            <a:ext cx="2374641" cy="1296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76864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37E97B-BDE8-EBBE-A96D-0BBCC2FA3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R Skript Aufbau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D672D8-EFC3-3BA4-5643-8DC38A0561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85000" lnSpcReduction="20000"/>
          </a:bodyPr>
          <a:lstStyle/>
          <a:p>
            <a:r>
              <a:rPr lang="de-DE" b="1" dirty="0">
                <a:ea typeface="+mn-lt"/>
                <a:cs typeface="+mn-lt"/>
              </a:rPr>
              <a:t>DB-Verbindung</a:t>
            </a:r>
            <a:r>
              <a:rPr lang="de-DE">
                <a:ea typeface="+mn-lt"/>
                <a:cs typeface="+mn-lt"/>
              </a:rPr>
              <a:t> / Einlesen von umgewandelten CSV-Dateien</a:t>
            </a:r>
            <a:endParaRPr lang="de-DE"/>
          </a:p>
          <a:p>
            <a:r>
              <a:rPr lang="de-DE" b="1" dirty="0">
                <a:ea typeface="+mn-lt"/>
                <a:cs typeface="+mn-lt"/>
              </a:rPr>
              <a:t>Bereinigung: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Komma→Punkt-Konvertierung</a:t>
            </a:r>
            <a:r>
              <a:rPr lang="de-DE" dirty="0">
                <a:ea typeface="+mn-lt"/>
                <a:cs typeface="+mn-lt"/>
              </a:rPr>
              <a:t>, NA-Filter</a:t>
            </a:r>
            <a:endParaRPr lang="de-DE" dirty="0"/>
          </a:p>
          <a:p>
            <a:r>
              <a:rPr lang="de-DE" b="1">
                <a:ea typeface="+mn-lt"/>
                <a:cs typeface="+mn-lt"/>
              </a:rPr>
              <a:t>Pseudo-Absence-Generierung:</a:t>
            </a:r>
            <a:r>
              <a:rPr lang="de-DE">
                <a:ea typeface="+mn-lt"/>
                <a:cs typeface="+mn-lt"/>
              </a:rPr>
              <a:t> zufällige Punkte in Bayern mit Mindestabstand (5 km) zu bekannten Fundorten </a:t>
            </a:r>
            <a:r>
              <a:rPr lang="de-DE" err="1">
                <a:ea typeface="+mn-lt"/>
                <a:cs typeface="+mn-lt"/>
              </a:rPr>
              <a:t>generi</a:t>
            </a:r>
            <a:r>
              <a:rPr lang="de-DE">
                <a:ea typeface="+mn-lt"/>
                <a:cs typeface="+mn-lt"/>
              </a:rPr>
              <a:t>eren</a:t>
            </a:r>
            <a:endParaRPr lang="de-DE"/>
          </a:p>
          <a:p>
            <a:r>
              <a:rPr lang="de-DE" b="1">
                <a:ea typeface="+mn-lt"/>
                <a:cs typeface="+mn-lt"/>
              </a:rPr>
              <a:t>Trainings-Datensatz</a:t>
            </a:r>
            <a:r>
              <a:rPr lang="de-DE">
                <a:ea typeface="+mn-lt"/>
                <a:cs typeface="+mn-lt"/>
              </a:rPr>
              <a:t> zusammensetzen 1:2 Presence/Absence-Verhältnis</a:t>
            </a:r>
            <a:endParaRPr lang="de-DE"/>
          </a:p>
          <a:p>
            <a:r>
              <a:rPr lang="de-DE" b="1" dirty="0">
                <a:ea typeface="+mn-lt"/>
                <a:cs typeface="+mn-lt"/>
              </a:rPr>
              <a:t>Random Forest </a:t>
            </a:r>
            <a:r>
              <a:rPr lang="de-DE" dirty="0">
                <a:ea typeface="+mn-lt"/>
                <a:cs typeface="+mn-lt"/>
              </a:rPr>
              <a:t>trainieren (via </a:t>
            </a:r>
            <a:r>
              <a:rPr lang="de-DE" dirty="0" err="1">
                <a:latin typeface="Consolas"/>
              </a:rPr>
              <a:t>ranger</a:t>
            </a:r>
            <a:r>
              <a:rPr lang="de-DE" dirty="0">
                <a:ea typeface="+mn-lt"/>
                <a:cs typeface="+mn-lt"/>
              </a:rPr>
              <a:t> + </a:t>
            </a:r>
            <a:r>
              <a:rPr lang="de-DE" dirty="0" err="1">
                <a:latin typeface="Consolas"/>
              </a:rPr>
              <a:t>caret</a:t>
            </a:r>
            <a:r>
              <a:rPr lang="de-DE" dirty="0">
                <a:ea typeface="+mn-lt"/>
                <a:cs typeface="+mn-lt"/>
              </a:rPr>
              <a:t>) mit 5-fold Cross-Validation, ROC als Metrik</a:t>
            </a:r>
            <a:endParaRPr lang="de-DE" dirty="0"/>
          </a:p>
          <a:p>
            <a:r>
              <a:rPr lang="de-DE" b="1">
                <a:ea typeface="+mn-lt"/>
                <a:cs typeface="+mn-lt"/>
              </a:rPr>
              <a:t>Vorhersage-Raster</a:t>
            </a:r>
            <a:r>
              <a:rPr lang="de-DE">
                <a:ea typeface="+mn-lt"/>
                <a:cs typeface="+mn-lt"/>
              </a:rPr>
              <a:t> erstellen; Gitterpunkte über ganz Bayern</a:t>
            </a:r>
            <a:endParaRPr lang="de-DE"/>
          </a:p>
          <a:p>
            <a:r>
              <a:rPr lang="de-DE" b="1" dirty="0" err="1">
                <a:ea typeface="+mn-lt"/>
                <a:cs typeface="+mn-lt"/>
              </a:rPr>
              <a:t>terra</a:t>
            </a:r>
            <a:r>
              <a:rPr lang="de-DE" b="1" dirty="0">
                <a:ea typeface="+mn-lt"/>
                <a:cs typeface="+mn-lt"/>
              </a:rPr>
              <a:t>-Raster: </a:t>
            </a:r>
            <a:r>
              <a:rPr lang="de-DE" dirty="0">
                <a:ea typeface="+mn-lt"/>
                <a:cs typeface="+mn-lt"/>
              </a:rPr>
              <a:t>Ausgabe als </a:t>
            </a:r>
            <a:r>
              <a:rPr lang="de-DE" dirty="0" err="1">
                <a:ea typeface="+mn-lt"/>
                <a:cs typeface="+mn-lt"/>
              </a:rPr>
              <a:t>GeoTIFF</a:t>
            </a:r>
            <a:r>
              <a:rPr lang="de-DE" dirty="0">
                <a:ea typeface="+mn-lt"/>
                <a:cs typeface="+mn-lt"/>
              </a:rPr>
              <a:t> (für QGIS direkt nutzbar)</a:t>
            </a:r>
            <a:endParaRPr lang="de-DE" dirty="0"/>
          </a:p>
          <a:p>
            <a:r>
              <a:rPr lang="de-DE" b="1">
                <a:ea typeface="+mn-lt"/>
                <a:cs typeface="+mn-lt"/>
              </a:rPr>
              <a:t>ggplot2-Heatmap:</a:t>
            </a:r>
            <a:r>
              <a:rPr lang="de-DE" b="1" dirty="0">
                <a:latin typeface="Aptos"/>
                <a:ea typeface="+mn-lt"/>
                <a:cs typeface="+mn-lt"/>
              </a:rPr>
              <a:t> </a:t>
            </a:r>
            <a:r>
              <a:rPr lang="de-DE">
                <a:latin typeface="Consolas"/>
                <a:ea typeface="+mn-lt"/>
                <a:cs typeface="+mn-lt"/>
              </a:rPr>
              <a:t>viridis</a:t>
            </a:r>
            <a:r>
              <a:rPr lang="de-DE">
                <a:latin typeface="Consolas"/>
              </a:rPr>
              <a:t>/magma</a:t>
            </a:r>
            <a:r>
              <a:rPr lang="de-DE">
                <a:ea typeface="+mn-lt"/>
                <a:cs typeface="+mn-lt"/>
              </a:rPr>
              <a:t>-Farbskala + bekannte Fundorte als gelbe Punkte</a:t>
            </a:r>
            <a:endParaRPr lang="de-DE"/>
          </a:p>
          <a:p>
            <a:r>
              <a:rPr lang="de-DE" b="1" dirty="0">
                <a:ea typeface="+mn-lt"/>
                <a:cs typeface="+mn-lt"/>
              </a:rPr>
              <a:t>Evaluation</a:t>
            </a:r>
            <a:r>
              <a:rPr lang="de-DE" dirty="0">
                <a:ea typeface="+mn-lt"/>
                <a:cs typeface="+mn-lt"/>
              </a:rPr>
              <a:t> des Modells, auf AUC, </a:t>
            </a:r>
            <a:r>
              <a:rPr lang="de-DE" dirty="0" err="1">
                <a:ea typeface="+mn-lt"/>
                <a:cs typeface="+mn-lt"/>
              </a:rPr>
              <a:t>Sensitivity</a:t>
            </a:r>
            <a:r>
              <a:rPr lang="de-DE" dirty="0">
                <a:ea typeface="+mn-lt"/>
                <a:cs typeface="+mn-lt"/>
              </a:rPr>
              <a:t>, </a:t>
            </a:r>
            <a:r>
              <a:rPr lang="de-DE" dirty="0" err="1">
                <a:ea typeface="+mn-lt"/>
                <a:cs typeface="+mn-lt"/>
              </a:rPr>
              <a:t>Specificity</a:t>
            </a:r>
            <a:r>
              <a:rPr lang="de-DE" dirty="0">
                <a:ea typeface="+mn-lt"/>
                <a:cs typeface="+mn-lt"/>
              </a:rPr>
              <a:t>, Konfusionsmatrix</a:t>
            </a: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p:pic>
        <p:nvPicPr>
          <p:cNvPr id="4" name="그림 3" descr="Datei:Goethe-Logo.svg">
            <a:extLst>
              <a:ext uri="{FF2B5EF4-FFF2-40B4-BE49-F238E27FC236}">
                <a16:creationId xmlns:a16="http://schemas.microsoft.com/office/drawing/2014/main" id="{A9B3DAEE-3DC6-C92D-A591-8EC9D305B7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7833" y="112356"/>
            <a:ext cx="2374641" cy="1296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53090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CD9B2D-61F1-8A21-774E-13BCA4302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Erste Versuche</a:t>
            </a:r>
          </a:p>
        </p:txBody>
      </p:sp>
      <p:pic>
        <p:nvPicPr>
          <p:cNvPr id="7" name="Inhaltsplatzhalter 6" descr="Ein Bild, das Text, Diagramm enthält.&#10;&#10;KI-generierte Inhalte können fehlerhaft sein.">
            <a:extLst>
              <a:ext uri="{FF2B5EF4-FFF2-40B4-BE49-F238E27FC236}">
                <a16:creationId xmlns:a16="http://schemas.microsoft.com/office/drawing/2014/main" id="{6BC7EBDF-377A-B01F-606A-7E954FB30F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31781"/>
            <a:ext cx="5801784" cy="4351338"/>
          </a:xfrm>
          <a:prstGeom prst="rect">
            <a:avLst/>
          </a:prstGeom>
        </p:spPr>
      </p:pic>
      <p:pic>
        <p:nvPicPr>
          <p:cNvPr id="3" name="그림 2" descr="Datei:Goethe-Logo.svg">
            <a:extLst>
              <a:ext uri="{FF2B5EF4-FFF2-40B4-BE49-F238E27FC236}">
                <a16:creationId xmlns:a16="http://schemas.microsoft.com/office/drawing/2014/main" id="{6E9F61EC-C794-D68D-9F84-D08E4750D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7833" y="112356"/>
            <a:ext cx="2374641" cy="1296158"/>
          </a:xfrm>
          <a:prstGeom prst="rect">
            <a:avLst/>
          </a:prstGeom>
        </p:spPr>
      </p:pic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43C5986A-C603-0D4A-1309-605DEE98AEF8}"/>
              </a:ext>
            </a:extLst>
          </p:cNvPr>
          <p:cNvSpPr txBox="1">
            <a:spLocks/>
          </p:cNvSpPr>
          <p:nvPr/>
        </p:nvSpPr>
        <p:spPr>
          <a:xfrm>
            <a:off x="6436567" y="1831781"/>
            <a:ext cx="5581261" cy="43513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altLang="ko-KR" sz="1800" dirty="0"/>
          </a:p>
          <a:p>
            <a:r>
              <a:rPr lang="en-US" altLang="ko-KR" sz="1800" dirty="0"/>
              <a:t>D</a:t>
            </a:r>
            <a:r>
              <a:rPr lang="ko-KR" altLang="ko-KR" sz="1800" dirty="0" err="1"/>
              <a:t>atensätze</a:t>
            </a:r>
            <a:r>
              <a:rPr lang="ko-KR" altLang="ko-KR" sz="1800" dirty="0"/>
              <a:t> </a:t>
            </a:r>
            <a:r>
              <a:rPr lang="ko-KR" altLang="ko-KR" sz="1800" dirty="0" err="1"/>
              <a:t>erfolgreich</a:t>
            </a:r>
            <a:r>
              <a:rPr lang="ko-KR" altLang="ko-KR" sz="1800" dirty="0"/>
              <a:t> </a:t>
            </a:r>
            <a:r>
              <a:rPr lang="ko-KR" altLang="ko-KR" sz="1800" dirty="0" err="1"/>
              <a:t>zusammengeführt</a:t>
            </a:r>
            <a:r>
              <a:rPr lang="ko-KR" altLang="ko-KR" sz="1800" dirty="0"/>
              <a:t> </a:t>
            </a:r>
            <a:endParaRPr lang="en-US" altLang="ko-KR" sz="1800" dirty="0"/>
          </a:p>
          <a:p>
            <a:r>
              <a:rPr lang="ko-KR" altLang="ko-KR" sz="1800" dirty="0" err="1"/>
              <a:t>Pseudo-Absence-Generierung</a:t>
            </a:r>
            <a:r>
              <a:rPr lang="ko-KR" altLang="ko-KR" sz="1800" dirty="0"/>
              <a:t> </a:t>
            </a:r>
            <a:r>
              <a:rPr lang="ko-KR" altLang="ko-KR" sz="1800" dirty="0" err="1"/>
              <a:t>implementiert</a:t>
            </a:r>
            <a:r>
              <a:rPr lang="ko-KR" altLang="ko-KR" sz="1800" dirty="0"/>
              <a:t> </a:t>
            </a:r>
            <a:endParaRPr lang="en-US" altLang="ko-KR" sz="1800" dirty="0"/>
          </a:p>
          <a:p>
            <a:r>
              <a:rPr lang="ko-KR" altLang="ko-KR" sz="1800" dirty="0" err="1"/>
              <a:t>Erste</a:t>
            </a:r>
            <a:r>
              <a:rPr lang="ko-KR" altLang="ko-KR" sz="1800" dirty="0"/>
              <a:t> </a:t>
            </a:r>
            <a:r>
              <a:rPr lang="ko-KR" altLang="ko-KR" sz="1800" dirty="0" err="1"/>
              <a:t>Random-Forest-Modelle</a:t>
            </a:r>
            <a:r>
              <a:rPr lang="ko-KR" altLang="ko-KR" sz="1800" dirty="0"/>
              <a:t> </a:t>
            </a:r>
            <a:r>
              <a:rPr lang="ko-KR" altLang="ko-KR" sz="1800" dirty="0" err="1"/>
              <a:t>trainiert</a:t>
            </a:r>
            <a:endParaRPr lang="en-US" altLang="ko-KR" sz="1800" dirty="0"/>
          </a:p>
          <a:p>
            <a:r>
              <a:rPr lang="ko-KR" altLang="ko-KR" sz="1800" dirty="0"/>
              <a:t> </a:t>
            </a:r>
            <a:r>
              <a:rPr lang="ko-KR" altLang="ko-KR" sz="1800" dirty="0" err="1"/>
              <a:t>Rechenzeitproblem</a:t>
            </a:r>
            <a:r>
              <a:rPr lang="ko-KR" altLang="ko-KR" sz="1800" dirty="0"/>
              <a:t> </a:t>
            </a:r>
            <a:r>
              <a:rPr lang="ko-KR" altLang="ko-KR" sz="1800" dirty="0" err="1"/>
              <a:t>bei</a:t>
            </a:r>
            <a:r>
              <a:rPr lang="ko-KR" altLang="ko-KR" sz="1800" dirty="0"/>
              <a:t> </a:t>
            </a:r>
            <a:r>
              <a:rPr lang="ko-KR" altLang="ko-KR" sz="1800" dirty="0" err="1"/>
              <a:t>Distanzberechnungen</a:t>
            </a:r>
            <a:r>
              <a:rPr lang="ko-KR" altLang="ko-KR" sz="1800" dirty="0"/>
              <a:t> </a:t>
            </a:r>
            <a:r>
              <a:rPr lang="ko-KR" altLang="ko-KR" sz="1800" dirty="0" err="1"/>
              <a:t>identifiziert</a:t>
            </a:r>
            <a:endParaRPr lang="en-US" altLang="ko-KR" sz="1800" dirty="0"/>
          </a:p>
          <a:p>
            <a:endParaRPr lang="en-US" altLang="ko-KR" sz="1800" dirty="0"/>
          </a:p>
          <a:p>
            <a:r>
              <a:rPr lang="en-US" sz="1800" b="1" dirty="0" err="1"/>
              <a:t>Herausforderung</a:t>
            </a:r>
            <a:endParaRPr lang="en-US" sz="1800" b="1" dirty="0"/>
          </a:p>
          <a:p>
            <a:r>
              <a:rPr lang="ko-KR" altLang="ko-KR" sz="1800" dirty="0" err="1"/>
              <a:t>Hohe</a:t>
            </a:r>
            <a:r>
              <a:rPr lang="ko-KR" altLang="ko-KR" sz="1800" dirty="0"/>
              <a:t> </a:t>
            </a:r>
            <a:r>
              <a:rPr lang="ko-KR" altLang="ko-KR" sz="1800" dirty="0" err="1"/>
              <a:t>Rechenzeit</a:t>
            </a:r>
            <a:r>
              <a:rPr lang="ko-KR" altLang="ko-KR" sz="1800" dirty="0"/>
              <a:t> </a:t>
            </a:r>
            <a:r>
              <a:rPr lang="ko-KR" altLang="ko-KR" sz="1800" dirty="0" err="1"/>
              <a:t>bei</a:t>
            </a:r>
            <a:r>
              <a:rPr lang="ko-KR" altLang="ko-KR" sz="1800" dirty="0"/>
              <a:t> </a:t>
            </a:r>
            <a:r>
              <a:rPr lang="ko-KR" altLang="ko-KR" sz="1800" dirty="0" err="1"/>
              <a:t>Distanzberechnungen</a:t>
            </a:r>
            <a:endParaRPr lang="en-US" altLang="ko-KR" sz="1800" dirty="0"/>
          </a:p>
          <a:p>
            <a:r>
              <a:rPr lang="ko-KR" altLang="ko-KR" sz="1800" dirty="0"/>
              <a:t> </a:t>
            </a:r>
            <a:r>
              <a:rPr lang="ko-KR" altLang="ko-KR" sz="1800" dirty="0" err="1"/>
              <a:t>Optimierung</a:t>
            </a:r>
            <a:r>
              <a:rPr lang="ko-KR" altLang="ko-KR" sz="1800" dirty="0"/>
              <a:t> </a:t>
            </a:r>
            <a:r>
              <a:rPr lang="ko-KR" altLang="ko-KR" sz="1800" dirty="0" err="1"/>
              <a:t>der</a:t>
            </a:r>
            <a:r>
              <a:rPr lang="ko-KR" altLang="ko-KR" sz="1800" dirty="0"/>
              <a:t> </a:t>
            </a:r>
            <a:r>
              <a:rPr lang="ko-KR" altLang="ko-KR" sz="1800" dirty="0" err="1"/>
              <a:t>Pseudo-Absence-Generierung</a:t>
            </a:r>
            <a:endParaRPr lang="en-US" altLang="ko-KR" sz="1800" dirty="0"/>
          </a:p>
          <a:p>
            <a:r>
              <a:rPr lang="ko-KR" altLang="ko-KR" sz="1800" dirty="0"/>
              <a:t> </a:t>
            </a:r>
            <a:r>
              <a:rPr lang="ko-KR" altLang="ko-KR" sz="1800" dirty="0" err="1"/>
              <a:t>notwendig</a:t>
            </a:r>
            <a:r>
              <a:rPr lang="ko-KR" altLang="ko-KR" sz="1800" dirty="0"/>
              <a:t> </a:t>
            </a:r>
            <a:r>
              <a:rPr lang="ko-KR" altLang="ko-KR" sz="1800" dirty="0" err="1"/>
              <a:t>Abwägung</a:t>
            </a:r>
            <a:r>
              <a:rPr lang="ko-KR" altLang="ko-KR" sz="1800" dirty="0"/>
              <a:t> </a:t>
            </a:r>
            <a:r>
              <a:rPr lang="ko-KR" altLang="ko-KR" sz="1800" dirty="0" err="1"/>
              <a:t>zwischen</a:t>
            </a:r>
            <a:r>
              <a:rPr lang="ko-KR" altLang="ko-KR" sz="1800" dirty="0"/>
              <a:t> </a:t>
            </a:r>
            <a:r>
              <a:rPr lang="ko-KR" altLang="ko-KR" sz="1800" dirty="0" err="1"/>
              <a:t>Rasterauflösung</a:t>
            </a:r>
            <a:r>
              <a:rPr lang="ko-KR" altLang="ko-KR" sz="1800" dirty="0"/>
              <a:t> </a:t>
            </a:r>
            <a:r>
              <a:rPr lang="ko-KR" altLang="ko-KR" sz="1800" dirty="0" err="1"/>
              <a:t>und</a:t>
            </a:r>
            <a:r>
              <a:rPr lang="ko-KR" altLang="ko-KR" sz="1800" dirty="0"/>
              <a:t> </a:t>
            </a:r>
            <a:r>
              <a:rPr lang="ko-KR" altLang="ko-KR" sz="1800" dirty="0" err="1"/>
              <a:t>Rechenzeit</a:t>
            </a:r>
            <a:endParaRPr lang="de-DE" sz="1800" dirty="0"/>
          </a:p>
        </p:txBody>
      </p:sp>
    </p:spTree>
    <p:extLst>
      <p:ext uri="{BB962C8B-B14F-4D97-AF65-F5344CB8AC3E}">
        <p14:creationId xmlns:p14="http://schemas.microsoft.com/office/powerpoint/2010/main" val="12255344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C9CC91-7F74-6828-C089-14BD527E2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Ideen / Vorhaben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00E021-A602-8026-229A-7BB14E750C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de-DE" b="1" dirty="0">
                <a:ea typeface="+mn-lt"/>
                <a:cs typeface="+mn-lt"/>
              </a:rPr>
              <a:t>Modell-Alternativen:</a:t>
            </a:r>
            <a:r>
              <a:rPr lang="de-DE" dirty="0">
                <a:ea typeface="+mn-lt"/>
                <a:cs typeface="+mn-lt"/>
              </a:rPr>
              <a:t> Random Forest ist unser Basismodell. </a:t>
            </a:r>
            <a:r>
              <a:rPr lang="de-DE" dirty="0" err="1">
                <a:ea typeface="+mn-lt"/>
                <a:cs typeface="+mn-lt"/>
              </a:rPr>
              <a:t>MaxENT</a:t>
            </a:r>
            <a:r>
              <a:rPr lang="de-DE" dirty="0">
                <a:ea typeface="+mn-lt"/>
                <a:cs typeface="+mn-lt"/>
              </a:rPr>
              <a:t> ist in der archäologischen Fachliteratur weit verbreitet, da es rein mit </a:t>
            </a:r>
            <a:r>
              <a:rPr lang="de-DE" dirty="0" err="1">
                <a:ea typeface="+mn-lt"/>
                <a:cs typeface="+mn-lt"/>
              </a:rPr>
              <a:t>Presences</a:t>
            </a:r>
            <a:r>
              <a:rPr lang="de-DE" dirty="0">
                <a:ea typeface="+mn-lt"/>
                <a:cs typeface="+mn-lt"/>
              </a:rPr>
              <a:t> arbeitet. Beide parallel trainieren und die ROC-AUCs vergleichen.</a:t>
            </a:r>
          </a:p>
          <a:p>
            <a:r>
              <a:rPr lang="de-DE" b="1" dirty="0">
                <a:ea typeface="+mn-lt"/>
                <a:cs typeface="+mn-lt"/>
              </a:rPr>
              <a:t>Pseudo-</a:t>
            </a:r>
            <a:r>
              <a:rPr lang="de-DE" b="1" dirty="0" err="1">
                <a:ea typeface="+mn-lt"/>
                <a:cs typeface="+mn-lt"/>
              </a:rPr>
              <a:t>Absences</a:t>
            </a:r>
            <a:r>
              <a:rPr lang="de-DE" b="1" dirty="0">
                <a:ea typeface="+mn-lt"/>
                <a:cs typeface="+mn-lt"/>
              </a:rPr>
              <a:t> &amp; Bias:</a:t>
            </a:r>
            <a:r>
              <a:rPr lang="de-DE" dirty="0">
                <a:ea typeface="+mn-lt"/>
                <a:cs typeface="+mn-lt"/>
              </a:rPr>
              <a:t> Unsere Pseudo-</a:t>
            </a:r>
            <a:r>
              <a:rPr lang="de-DE" dirty="0" err="1">
                <a:ea typeface="+mn-lt"/>
                <a:cs typeface="+mn-lt"/>
              </a:rPr>
              <a:t>Absences</a:t>
            </a:r>
            <a:r>
              <a:rPr lang="de-DE" dirty="0">
                <a:ea typeface="+mn-lt"/>
                <a:cs typeface="+mn-lt"/>
              </a:rPr>
              <a:t> werden zufällig innerhalb Bayerns generiert. Stattdessen aus </a:t>
            </a:r>
            <a:r>
              <a:rPr lang="de-DE" i="1" dirty="0" err="1">
                <a:ea typeface="+mn-lt"/>
                <a:cs typeface="+mn-lt"/>
              </a:rPr>
              <a:t>sampling</a:t>
            </a:r>
            <a:r>
              <a:rPr lang="de-DE" i="1" dirty="0">
                <a:ea typeface="+mn-lt"/>
                <a:cs typeface="+mn-lt"/>
              </a:rPr>
              <a:t> </a:t>
            </a:r>
            <a:r>
              <a:rPr lang="de-DE" i="1" dirty="0" err="1">
                <a:ea typeface="+mn-lt"/>
                <a:cs typeface="+mn-lt"/>
              </a:rPr>
              <a:t>bias</a:t>
            </a:r>
            <a:r>
              <a:rPr lang="de-DE" i="1" dirty="0">
                <a:ea typeface="+mn-lt"/>
                <a:cs typeface="+mn-lt"/>
              </a:rPr>
              <a:t> </a:t>
            </a:r>
            <a:r>
              <a:rPr lang="de-DE" i="1" dirty="0" err="1">
                <a:ea typeface="+mn-lt"/>
                <a:cs typeface="+mn-lt"/>
              </a:rPr>
              <a:t>layer</a:t>
            </a:r>
            <a:r>
              <a:rPr lang="de-DE" dirty="0">
                <a:ea typeface="+mn-lt"/>
                <a:cs typeface="+mn-lt"/>
              </a:rPr>
              <a:t> ziehen, also aus Regionen, die ähnlich gut prospektiert wurden wie die Fundorte.</a:t>
            </a:r>
          </a:p>
          <a:p>
            <a:r>
              <a:rPr lang="de-DE" b="1" dirty="0">
                <a:ea typeface="+mn-lt"/>
                <a:cs typeface="+mn-lt"/>
              </a:rPr>
              <a:t>Raster-Auflösung vs. Rechenzeit:</a:t>
            </a:r>
            <a:r>
              <a:rPr lang="de-DE" dirty="0">
                <a:ea typeface="+mn-lt"/>
                <a:cs typeface="+mn-lt"/>
              </a:rPr>
              <a:t> Parallele Verarbeitung via </a:t>
            </a:r>
            <a:r>
              <a:rPr lang="de-DE" dirty="0" err="1">
                <a:latin typeface="Consolas"/>
              </a:rPr>
              <a:t>future</a:t>
            </a:r>
            <a:r>
              <a:rPr lang="de-DE" dirty="0">
                <a:ea typeface="+mn-lt"/>
                <a:cs typeface="+mn-lt"/>
              </a:rPr>
              <a:t>/</a:t>
            </a:r>
            <a:r>
              <a:rPr lang="de-DE" dirty="0">
                <a:latin typeface="Consolas"/>
              </a:rPr>
              <a:t>parallel</a:t>
            </a:r>
            <a:r>
              <a:rPr lang="de-DE" dirty="0">
                <a:latin typeface="Consolas"/>
                <a:ea typeface="+mn-lt"/>
                <a:cs typeface="+mn-lt"/>
              </a:rPr>
              <a:t>,</a:t>
            </a:r>
            <a:r>
              <a:rPr lang="de-DE" dirty="0">
                <a:ea typeface="+mn-lt"/>
                <a:cs typeface="+mn-lt"/>
              </a:rPr>
              <a:t> für bessere Auflösung.</a:t>
            </a:r>
          </a:p>
        </p:txBody>
      </p:sp>
      <p:pic>
        <p:nvPicPr>
          <p:cNvPr id="4" name="그림 3" descr="Datei:Goethe-Logo.svg">
            <a:extLst>
              <a:ext uri="{FF2B5EF4-FFF2-40B4-BE49-F238E27FC236}">
                <a16:creationId xmlns:a16="http://schemas.microsoft.com/office/drawing/2014/main" id="{94566555-5BEA-FF9A-5B46-232C43AAE3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7833" y="112356"/>
            <a:ext cx="2374641" cy="1296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3037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5CCAC-A6CA-926E-A14B-7A26D7646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E4E44F-BAA7-C705-8E78-FF6CC3A9E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Ideen / Vorhaben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77B4579-4EA3-C3CB-B6ED-C12366A65D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de-DE" b="1" dirty="0">
                <a:ea typeface="+mn-lt"/>
                <a:cs typeface="+mn-lt"/>
              </a:rPr>
              <a:t>MSQR als Prädiktor / historische Validität:</a:t>
            </a:r>
            <a:r>
              <a:rPr lang="de-DE" dirty="0">
                <a:ea typeface="+mn-lt"/>
                <a:cs typeface="+mn-lt"/>
              </a:rPr>
              <a:t> Das Müncheberg Soil Quality Rating bewertet Böden nach modernen landwirtschaftlichen Maßstäben. Bodenparameter finden, die für die Eisenzeit spezifisch relevanter wären, z.B. Drainageverhältnisse oder Humusgehalt.</a:t>
            </a:r>
          </a:p>
          <a:p>
            <a:r>
              <a:rPr lang="ko-KR" altLang="ko-KR" dirty="0" err="1"/>
              <a:t>Prüfung</a:t>
            </a:r>
            <a:r>
              <a:rPr lang="ko-KR" altLang="ko-KR" dirty="0"/>
              <a:t> </a:t>
            </a:r>
            <a:r>
              <a:rPr lang="ko-KR" altLang="ko-KR" dirty="0" err="1"/>
              <a:t>zusätzlicher</a:t>
            </a:r>
            <a:r>
              <a:rPr lang="ko-KR" altLang="ko-KR" dirty="0"/>
              <a:t> </a:t>
            </a:r>
            <a:r>
              <a:rPr lang="ko-KR" altLang="ko-KR" dirty="0" err="1"/>
              <a:t>Umwelt</a:t>
            </a:r>
            <a:r>
              <a:rPr lang="ko-KR" altLang="ko-KR" dirty="0"/>
              <a:t>- </a:t>
            </a:r>
            <a:r>
              <a:rPr lang="ko-KR" altLang="ko-KR" dirty="0" err="1"/>
              <a:t>und</a:t>
            </a:r>
            <a:r>
              <a:rPr lang="ko-KR" altLang="ko-KR" dirty="0"/>
              <a:t> </a:t>
            </a:r>
            <a:r>
              <a:rPr lang="ko-KR" altLang="ko-KR" dirty="0" err="1"/>
              <a:t>Landschaftsvariablen</a:t>
            </a:r>
            <a:r>
              <a:rPr lang="ko-KR" altLang="ko-KR" dirty="0"/>
              <a:t> </a:t>
            </a:r>
            <a:r>
              <a:rPr lang="ko-KR" altLang="ko-KR" dirty="0" err="1"/>
              <a:t>aus</a:t>
            </a:r>
            <a:r>
              <a:rPr lang="ko-KR" altLang="ko-KR" dirty="0"/>
              <a:t> </a:t>
            </a:r>
            <a:r>
              <a:rPr lang="ko-KR" altLang="ko-KR" dirty="0" err="1"/>
              <a:t>dem</a:t>
            </a:r>
            <a:r>
              <a:rPr lang="ko-KR" altLang="ko-KR" dirty="0"/>
              <a:t> </a:t>
            </a:r>
            <a:r>
              <a:rPr lang="ko-KR" altLang="ko-KR" b="1" dirty="0" err="1"/>
              <a:t>BayernAtlas</a:t>
            </a:r>
            <a:r>
              <a:rPr lang="de-DE" dirty="0">
                <a:ea typeface="+mn-lt"/>
                <a:cs typeface="+mn-lt"/>
              </a:rPr>
              <a:t>(https://atlas.bayern.de)</a:t>
            </a:r>
          </a:p>
          <a:p>
            <a:endParaRPr lang="de-DE" dirty="0">
              <a:ea typeface="+mn-lt"/>
              <a:cs typeface="+mn-lt"/>
            </a:endParaRPr>
          </a:p>
        </p:txBody>
      </p:sp>
      <p:pic>
        <p:nvPicPr>
          <p:cNvPr id="4" name="그림 3" descr="Datei:Goethe-Logo.svg">
            <a:extLst>
              <a:ext uri="{FF2B5EF4-FFF2-40B4-BE49-F238E27FC236}">
                <a16:creationId xmlns:a16="http://schemas.microsoft.com/office/drawing/2014/main" id="{8A96E047-31FD-1F38-EEB0-6ACE11288D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7833" y="112356"/>
            <a:ext cx="2374641" cy="1296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61053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002BD1-A00D-877A-DBA0-E1F115BD7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97779"/>
            <a:ext cx="10515600" cy="1325563"/>
          </a:xfrm>
        </p:spPr>
        <p:txBody>
          <a:bodyPr/>
          <a:lstStyle/>
          <a:p>
            <a:pPr algn="ctr"/>
            <a:r>
              <a:rPr lang="de-DE" altLang="ko-KR"/>
              <a:t>Vielen Dank!</a:t>
            </a:r>
            <a:endParaRPr lang="ko-KR" altLang="en-US" dirty="0"/>
          </a:p>
        </p:txBody>
      </p:sp>
      <p:pic>
        <p:nvPicPr>
          <p:cNvPr id="4" name="그림 3" descr="Datei:Goethe-Logo.svg">
            <a:extLst>
              <a:ext uri="{FF2B5EF4-FFF2-40B4-BE49-F238E27FC236}">
                <a16:creationId xmlns:a16="http://schemas.microsoft.com/office/drawing/2014/main" id="{BE5DB1C8-3685-D8F5-FDE4-7F50A841FA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7833" y="112356"/>
            <a:ext cx="2374641" cy="1296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2622230"/>
      </p:ext>
    </p:extLst>
  </p:cSld>
  <p:clrMapOvr>
    <a:masterClrMapping/>
  </p:clrMapOvr>
</p:sld>
</file>

<file path=ppt/theme/theme1.xml><?xml version="1.0" encoding="utf-8"?>
<a:theme xmlns:a="http://schemas.openxmlformats.org/drawingml/2006/main" name="Lariss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Larissa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318</Words>
  <Application>Microsoft Office PowerPoint</Application>
  <PresentationFormat>와이드스크린</PresentationFormat>
  <Paragraphs>40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Consolas</vt:lpstr>
      <vt:lpstr>Larissa</vt:lpstr>
      <vt:lpstr>Data Challenges Zwischenpräsentation </vt:lpstr>
      <vt:lpstr>Thema: Predictive Modelling</vt:lpstr>
      <vt:lpstr>Vorgehen</vt:lpstr>
      <vt:lpstr>R Skript Aufbau</vt:lpstr>
      <vt:lpstr>Erste Versuche</vt:lpstr>
      <vt:lpstr>Ideen / Vorhaben</vt:lpstr>
      <vt:lpstr>Ideen / Vorhaben</vt:lpstr>
      <vt:lpstr>Vielen Dank!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tkof6kkmo0@goetheuniversitaet.onmicrosoft.com</cp:lastModifiedBy>
  <cp:revision>89</cp:revision>
  <dcterms:created xsi:type="dcterms:W3CDTF">2026-06-03T16:23:37Z</dcterms:created>
  <dcterms:modified xsi:type="dcterms:W3CDTF">2026-06-08T19:05:31Z</dcterms:modified>
</cp:coreProperties>
</file>