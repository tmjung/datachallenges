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5" r:id="rId5"/>
    <p:sldId id="258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5C58B-5CAC-407C-93CA-EDA2CEA3685B}" v="234" dt="2026-06-10T19:05:45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698172"/>
            <a:ext cx="9144000" cy="1845923"/>
          </a:xfrm>
        </p:spPr>
        <p:txBody>
          <a:bodyPr>
            <a:normAutofit/>
          </a:bodyPr>
          <a:lstStyle/>
          <a:p>
            <a:r>
              <a:rPr lang="de-DE" dirty="0"/>
              <a:t>Data Challenges</a:t>
            </a:r>
            <a:br>
              <a:rPr lang="de-DE" dirty="0"/>
            </a:br>
            <a:r>
              <a:rPr lang="de-DE" dirty="0"/>
              <a:t>Zwischenpräsentation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ko-KR" dirty="0">
                <a:ea typeface="맑은 고딕"/>
              </a:rPr>
              <a:t>5217982 - </a:t>
            </a:r>
            <a:r>
              <a:rPr lang="ko-KR" altLang="ko-KR" dirty="0" err="1">
                <a:ea typeface="맑은 고딕"/>
              </a:rPr>
              <a:t>Toni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 dirty="0" err="1">
                <a:ea typeface="맑은 고딕"/>
              </a:rPr>
              <a:t>Jungbeck</a:t>
            </a:r>
            <a:endParaRPr lang="de-DE" altLang="ko-KR" dirty="0">
              <a:ea typeface="맑은 고딕"/>
            </a:endParaRPr>
          </a:p>
          <a:p>
            <a:r>
              <a:rPr lang="de-DE" altLang="ko-KR" dirty="0"/>
              <a:t>8528087 - </a:t>
            </a:r>
            <a:r>
              <a:rPr lang="de-DE" altLang="ko-KR" dirty="0" err="1"/>
              <a:t>Bonju</a:t>
            </a:r>
            <a:r>
              <a:rPr lang="de-DE" altLang="ko-KR" dirty="0"/>
              <a:t> Koo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8BEFAA7-3947-1298-6C11-A93D2D1EA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05256-8DC1-7F2A-C5EC-C5FB0A96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Thema: </a:t>
            </a:r>
            <a:r>
              <a:rPr lang="de-DE" altLang="ko-KR" dirty="0" err="1"/>
              <a:t>Predictive</a:t>
            </a:r>
            <a:r>
              <a:rPr lang="de-DE" altLang="ko-KR" dirty="0"/>
              <a:t> Modelling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A50ED0-0AF3-C877-9996-EC91EB80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>
                <a:ea typeface="맑은 고딕"/>
              </a:rPr>
              <a:t>Forschungsfrage</a:t>
            </a:r>
            <a:r>
              <a:rPr lang="en-US" altLang="ko-KR" dirty="0">
                <a:ea typeface="맑은 고딕"/>
              </a:rPr>
              <a:t>: </a:t>
            </a:r>
            <a:br>
              <a:rPr lang="en-US" altLang="ko-KR" dirty="0">
                <a:ea typeface="맑은 고딕"/>
              </a:rPr>
            </a:br>
            <a:r>
              <a:rPr lang="ko-KR" altLang="ko-KR" dirty="0">
                <a:ea typeface="맑은 고딕"/>
              </a:rPr>
              <a:t>Welche Umwelt-, Klima- und Bodenfaktoren beeinflussen die Lage eisenzeitlicher Fundorte in Bayern, und können daraus bisher unbekannte Fundortwahrscheinlichkeiten vorhergesagt werden?</a:t>
            </a:r>
            <a:endParaRPr lang="ko-KR" altLang="en-US" dirty="0">
              <a:ea typeface="맑은 고딕"/>
            </a:endParaRP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3C59D73C-C6CF-E7DE-9296-149E7189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7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306DD-9450-F239-BEB4-9601239A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E44B-3CF6-3A14-3CEA-C1FDE76E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ko-KR" altLang="ko-KR" b="1">
                <a:ea typeface="맑은 고딕"/>
              </a:rPr>
              <a:t>Vorbereitung</a:t>
            </a:r>
            <a:endParaRPr lang="ko-KR" altLang="ko-KR" b="1" dirty="0">
              <a:ea typeface="맑은 고딕"/>
            </a:endParaRPr>
          </a:p>
          <a:p>
            <a:pPr>
              <a:buFont typeface="Arial"/>
              <a:buChar char="•"/>
            </a:pPr>
            <a:r>
              <a:rPr lang="de-DE" altLang="ko-KR" sz="2200" dirty="0">
                <a:ea typeface="맑은 고딕"/>
              </a:rPr>
              <a:t>Entwicklungsumgebung </a:t>
            </a:r>
            <a:r>
              <a:rPr lang="de-DE" altLang="ko-KR" sz="2200">
                <a:ea typeface="맑은 고딕"/>
              </a:rPr>
              <a:t>aufsetzen</a:t>
            </a:r>
            <a:endParaRPr lang="ko-KR">
              <a:ea typeface="맑은 고딕" panose="020B0503020000020004" pitchFamily="34" charset="-127"/>
            </a:endParaRPr>
          </a:p>
          <a:p>
            <a:pPr marL="0" indent="0">
              <a:buNone/>
            </a:pPr>
            <a:r>
              <a:rPr lang="ko-KR" altLang="ko-KR" b="1">
                <a:ea typeface="맑은 고딕"/>
              </a:rPr>
              <a:t>Datenaufbereitung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in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R</a:t>
            </a:r>
            <a:r>
              <a:rPr lang="ko-KR" altLang="ko-KR" dirty="0">
                <a:ea typeface="맑은 고딕"/>
              </a:rPr>
              <a:t> </a:t>
            </a:r>
            <a:endParaRPr lang="en-US" altLang="ko-KR">
              <a:ea typeface="맑은 고딕"/>
            </a:endParaRPr>
          </a:p>
          <a:p>
            <a:r>
              <a:rPr lang="ko-KR" altLang="ko-KR" sz="2200">
                <a:ea typeface="맑은 고딕"/>
              </a:rPr>
              <a:t>Archäologische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Fundorte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und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Umweltvariablen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zusammenführen</a:t>
            </a:r>
            <a:r>
              <a:rPr lang="ko-KR" altLang="ko-KR" sz="2200" dirty="0">
                <a:ea typeface="맑은 고딕"/>
              </a:rPr>
              <a:t> </a:t>
            </a:r>
          </a:p>
          <a:p>
            <a:r>
              <a:rPr lang="ko-KR" altLang="ko-KR" sz="2200">
                <a:ea typeface="맑은 고딕"/>
              </a:rPr>
              <a:t>Bereinigung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und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Standardisierung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der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Datensätze</a:t>
            </a:r>
            <a:r>
              <a:rPr lang="ko-KR" altLang="ko-KR" sz="2200" dirty="0">
                <a:ea typeface="맑은 고딕"/>
              </a:rPr>
              <a:t> </a:t>
            </a:r>
          </a:p>
          <a:p>
            <a:pPr marL="0" indent="0">
              <a:buNone/>
            </a:pPr>
            <a:r>
              <a:rPr lang="ko-KR" altLang="ko-KR" b="1">
                <a:ea typeface="맑은 고딕"/>
              </a:rPr>
              <a:t>Generierung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von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Pseudo-Absenz-Punkten</a:t>
            </a:r>
            <a:endParaRPr lang="ko-KR" altLang="de-DE">
              <a:ea typeface="맑은 고딕"/>
            </a:endParaRPr>
          </a:p>
          <a:p>
            <a:r>
              <a:rPr lang="ko-KR" altLang="ko-KR" sz="2200" err="1">
                <a:ea typeface="맑은 고딕"/>
              </a:rPr>
              <a:t>Zufällige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Nicht-Fundorte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mit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Mindestabstand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zu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bekannten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Fundorten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erzeugen</a:t>
            </a:r>
            <a:r>
              <a:rPr lang="ko-KR" altLang="ko-KR" sz="2200" dirty="0">
                <a:ea typeface="맑은 고딕"/>
              </a:rPr>
              <a:t> </a:t>
            </a:r>
          </a:p>
          <a:p>
            <a:pPr marL="0" indent="0">
              <a:buNone/>
            </a:pPr>
            <a:r>
              <a:rPr lang="ko-KR" altLang="ko-KR" b="1">
                <a:ea typeface="맑은 고딕"/>
              </a:rPr>
              <a:t>Modellentwicklung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in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R</a:t>
            </a:r>
            <a:r>
              <a:rPr lang="ko-KR" altLang="ko-KR" dirty="0">
                <a:ea typeface="맑은 고딕"/>
              </a:rPr>
              <a:t> </a:t>
            </a:r>
            <a:endParaRPr lang="en-US" altLang="ko-KR" dirty="0">
              <a:ea typeface="맑은 고딕"/>
            </a:endParaRPr>
          </a:p>
          <a:p>
            <a:r>
              <a:rPr lang="ko-KR" altLang="ko-KR" sz="2200" err="1">
                <a:ea typeface="맑은 고딕"/>
              </a:rPr>
              <a:t>Random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Forest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zur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Vorhersage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von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Fundortwahrscheinlichkeiten (ggfs. noch andere Modelle)</a:t>
            </a:r>
          </a:p>
          <a:p>
            <a:pPr marL="0" indent="0">
              <a:buNone/>
            </a:pPr>
            <a:r>
              <a:rPr lang="ko-KR" altLang="ko-KR" b="1">
                <a:ea typeface="맑은 고딕"/>
              </a:rPr>
              <a:t>Räumliche</a:t>
            </a:r>
            <a:r>
              <a:rPr lang="ko-KR" altLang="ko-KR" b="1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Vorhersage</a:t>
            </a:r>
            <a:r>
              <a:rPr lang="ko-KR" altLang="ko-KR" dirty="0">
                <a:ea typeface="맑은 고딕"/>
              </a:rPr>
              <a:t> </a:t>
            </a:r>
            <a:endParaRPr lang="en-US" altLang="ko-KR" dirty="0">
              <a:ea typeface="맑은 고딕"/>
            </a:endParaRPr>
          </a:p>
          <a:p>
            <a:r>
              <a:rPr lang="ko-KR" altLang="ko-KR" sz="2200">
                <a:ea typeface="맑은 고딕"/>
              </a:rPr>
              <a:t>Anwendung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des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Modells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auf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ein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>
                <a:ea typeface="맑은 고딕"/>
              </a:rPr>
              <a:t>Raster mit verschiedenen Auflösungen</a:t>
            </a:r>
            <a:endParaRPr lang="en-US" altLang="ko-KR" sz="2200">
              <a:ea typeface="맑은 고딕"/>
            </a:endParaRPr>
          </a:p>
          <a:p>
            <a:pPr marL="0" indent="0">
              <a:buNone/>
            </a:pPr>
            <a:r>
              <a:rPr lang="ko-KR" altLang="ko-KR" b="1">
                <a:ea typeface="맑은 고딕"/>
              </a:rPr>
              <a:t>Visualisierung</a:t>
            </a:r>
            <a:r>
              <a:rPr lang="ko-KR" altLang="ko-KR" b="1" dirty="0">
                <a:ea typeface="맑은 고딕"/>
              </a:rPr>
              <a:t> &amp; </a:t>
            </a:r>
            <a:r>
              <a:rPr lang="ko-KR" altLang="ko-KR" b="1">
                <a:ea typeface="맑은 고딕"/>
              </a:rPr>
              <a:t>Evaluation</a:t>
            </a:r>
            <a:r>
              <a:rPr lang="ko-KR" altLang="ko-KR" dirty="0">
                <a:ea typeface="맑은 고딕"/>
              </a:rPr>
              <a:t> </a:t>
            </a:r>
            <a:endParaRPr lang="en-US" altLang="ko-KR">
              <a:ea typeface="맑은 고딕"/>
            </a:endParaRPr>
          </a:p>
          <a:p>
            <a:r>
              <a:rPr lang="ko-KR" altLang="ko-KR" sz="2200" err="1">
                <a:ea typeface="맑은 고딕"/>
              </a:rPr>
              <a:t>Heatmap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potentieller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Fundorte</a:t>
            </a:r>
            <a:r>
              <a:rPr lang="ko-KR" altLang="ko-KR" sz="2200" dirty="0">
                <a:ea typeface="맑은 고딕"/>
              </a:rPr>
              <a:t> </a:t>
            </a:r>
            <a:endParaRPr lang="en-US" altLang="ko-KR" sz="2200" dirty="0">
              <a:ea typeface="맑은 고딕"/>
            </a:endParaRPr>
          </a:p>
          <a:p>
            <a:r>
              <a:rPr lang="ko-KR" altLang="ko-KR" sz="2200" dirty="0">
                <a:ea typeface="맑은 고딕"/>
              </a:rPr>
              <a:t>ROC-AUC, </a:t>
            </a:r>
            <a:r>
              <a:rPr lang="ko-KR" altLang="ko-KR" sz="2200" err="1">
                <a:ea typeface="맑은 고딕"/>
              </a:rPr>
              <a:t>Sensitivity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und</a:t>
            </a:r>
            <a:r>
              <a:rPr lang="ko-KR" altLang="ko-KR" sz="2200" dirty="0">
                <a:ea typeface="맑은 고딕"/>
              </a:rPr>
              <a:t> </a:t>
            </a:r>
            <a:r>
              <a:rPr lang="ko-KR" altLang="ko-KR" sz="2200" err="1">
                <a:ea typeface="맑은 고딕"/>
              </a:rPr>
              <a:t>Specificity</a:t>
            </a:r>
            <a:endParaRPr lang="ko-KR" altLang="ko-KR" sz="2200">
              <a:ea typeface="맑은 고딕"/>
            </a:endParaRP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E11E6F32-73DD-A9C9-09EF-6A4EA4D2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4B61F-9A12-1A5F-A7A1-14840762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Zeitplan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EA8B17CD-24FD-D93C-9C0C-EE1ECDA29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pic>
        <p:nvPicPr>
          <p:cNvPr id="5" name="table">
            <a:extLst>
              <a:ext uri="{FF2B5EF4-FFF2-40B4-BE49-F238E27FC236}">
                <a16:creationId xmlns:a16="http://schemas.microsoft.com/office/drawing/2014/main" id="{FC388EEC-3ECB-0F95-9984-FE773728F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9728" y="1825625"/>
            <a:ext cx="9972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7E97B-BDE8-EBBE-A96D-0BBCC2FA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 Skript 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672D8-EFC3-3BA4-5643-8DC38A05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de-DE" b="1">
                <a:ea typeface="+mn-lt"/>
                <a:cs typeface="+mn-lt"/>
              </a:rPr>
              <a:t>CSV-Dateien</a:t>
            </a:r>
            <a:r>
              <a:rPr lang="de-DE">
                <a:ea typeface="+mn-lt"/>
                <a:cs typeface="+mn-lt"/>
              </a:rPr>
              <a:t> einlesen</a:t>
            </a:r>
            <a:endParaRPr lang="de-DE" dirty="0"/>
          </a:p>
          <a:p>
            <a:r>
              <a:rPr lang="de-DE" sz="2900" b="1">
                <a:ea typeface="+mn-lt"/>
                <a:cs typeface="+mn-lt"/>
              </a:rPr>
              <a:t>Bereinigung der Daten</a:t>
            </a:r>
            <a:r>
              <a:rPr lang="de-DE" b="1">
                <a:ea typeface="+mn-lt"/>
                <a:cs typeface="+mn-lt"/>
              </a:rPr>
              <a:t>:</a:t>
            </a:r>
            <a:r>
              <a:rPr lang="de-DE">
                <a:ea typeface="+mn-lt"/>
                <a:cs typeface="+mn-lt"/>
              </a:rPr>
              <a:t> Dezimalkomma-Konvertierung, NA-Filter, Auswahl relevanter Prädiktoren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Pseudo-Absence-Generierung:</a:t>
            </a:r>
            <a:r>
              <a:rPr lang="de-DE">
                <a:ea typeface="+mn-lt"/>
                <a:cs typeface="+mn-lt"/>
              </a:rPr>
              <a:t> zufällige Punkte in Bayern mit verschiedenen Mindestabständen zu bekannten Fundorten generieren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Umwelt- und räumliche Merkmale</a:t>
            </a:r>
            <a:r>
              <a:rPr lang="de-DE" dirty="0">
                <a:ea typeface="+mn-lt"/>
                <a:cs typeface="+mn-lt"/>
              </a:rPr>
              <a:t> für Präsenz- und Pseudo-</a:t>
            </a:r>
            <a:r>
              <a:rPr lang="de-DE" dirty="0" err="1">
                <a:ea typeface="+mn-lt"/>
                <a:cs typeface="+mn-lt"/>
              </a:rPr>
              <a:t>Absenzpunkte</a:t>
            </a:r>
            <a:r>
              <a:rPr lang="de-DE" dirty="0">
                <a:ea typeface="+mn-lt"/>
                <a:cs typeface="+mn-lt"/>
              </a:rPr>
              <a:t> ableiten</a:t>
            </a:r>
          </a:p>
          <a:p>
            <a:r>
              <a:rPr lang="de-DE" b="1" dirty="0">
                <a:ea typeface="+mn-lt"/>
                <a:cs typeface="+mn-lt"/>
              </a:rPr>
              <a:t>Trainings-Datensatz</a:t>
            </a:r>
            <a:r>
              <a:rPr lang="de-DE" dirty="0">
                <a:ea typeface="+mn-lt"/>
                <a:cs typeface="+mn-lt"/>
              </a:rPr>
              <a:t> aus Präsenz- und Pseudo-</a:t>
            </a:r>
            <a:r>
              <a:rPr lang="de-DE" dirty="0" err="1">
                <a:ea typeface="+mn-lt"/>
                <a:cs typeface="+mn-lt"/>
              </a:rPr>
              <a:t>Absenzpunkten</a:t>
            </a:r>
            <a:r>
              <a:rPr lang="de-DE" dirty="0">
                <a:ea typeface="+mn-lt"/>
                <a:cs typeface="+mn-lt"/>
              </a:rPr>
              <a:t> zusammensetzen</a:t>
            </a:r>
          </a:p>
          <a:p>
            <a:r>
              <a:rPr lang="de-DE" b="1" dirty="0">
                <a:ea typeface="+mn-lt"/>
                <a:cs typeface="+mn-lt"/>
              </a:rPr>
              <a:t>Random Forest</a:t>
            </a:r>
            <a:r>
              <a:rPr lang="de-DE" dirty="0">
                <a:ea typeface="+mn-lt"/>
                <a:cs typeface="+mn-lt"/>
              </a:rPr>
              <a:t> (</a:t>
            </a:r>
            <a:r>
              <a:rPr lang="de-DE" dirty="0" err="1">
                <a:ea typeface="+mn-lt"/>
                <a:cs typeface="+mn-lt"/>
              </a:rPr>
              <a:t>ranger</a:t>
            </a:r>
            <a:r>
              <a:rPr lang="de-DE" dirty="0">
                <a:ea typeface="+mn-lt"/>
                <a:cs typeface="+mn-lt"/>
              </a:rPr>
              <a:t> + </a:t>
            </a:r>
            <a:r>
              <a:rPr lang="de-DE" dirty="0" err="1">
                <a:ea typeface="+mn-lt"/>
                <a:cs typeface="+mn-lt"/>
              </a:rPr>
              <a:t>caret</a:t>
            </a:r>
            <a:r>
              <a:rPr lang="de-DE" dirty="0">
                <a:ea typeface="+mn-lt"/>
                <a:cs typeface="+mn-lt"/>
              </a:rPr>
              <a:t>) mit 5-fold Cross-Validation und ROC-AUC als Optimierungskriterium trainieren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Vorhersage-Raster</a:t>
            </a:r>
            <a:r>
              <a:rPr lang="de-DE" dirty="0">
                <a:ea typeface="+mn-lt"/>
                <a:cs typeface="+mn-lt"/>
              </a:rPr>
              <a:t> erstellen; Gitterpunkte über ganz Bayern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Wahrscheinlichkeitsraster </a:t>
            </a:r>
            <a:r>
              <a:rPr lang="de-DE" dirty="0">
                <a:ea typeface="+mn-lt"/>
                <a:cs typeface="+mn-lt"/>
              </a:rPr>
              <a:t>als </a:t>
            </a:r>
            <a:r>
              <a:rPr lang="de-DE" dirty="0" err="1">
                <a:ea typeface="+mn-lt"/>
                <a:cs typeface="+mn-lt"/>
              </a:rPr>
              <a:t>GeoTIFF</a:t>
            </a:r>
            <a:r>
              <a:rPr lang="de-DE" dirty="0">
                <a:ea typeface="+mn-lt"/>
                <a:cs typeface="+mn-lt"/>
              </a:rPr>
              <a:t> exportieren (für QGIS direkt nutzbar)</a:t>
            </a:r>
            <a:endParaRPr lang="de-DE" dirty="0"/>
          </a:p>
          <a:p>
            <a:r>
              <a:rPr lang="de-DE" b="1" dirty="0" err="1">
                <a:ea typeface="+mn-lt"/>
                <a:cs typeface="+mn-lt"/>
              </a:rPr>
              <a:t>Heatmap</a:t>
            </a:r>
            <a:r>
              <a:rPr lang="de-DE" dirty="0">
                <a:ea typeface="+mn-lt"/>
                <a:cs typeface="+mn-lt"/>
              </a:rPr>
              <a:t> mit ggplot2 erzeugen (Farbskala, Fundorte als Referenzpunkte)</a:t>
            </a:r>
            <a:endParaRPr lang="de-DE" dirty="0"/>
          </a:p>
          <a:p>
            <a:r>
              <a:rPr lang="de-DE" b="1" dirty="0">
                <a:ea typeface="+mn-lt"/>
                <a:cs typeface="+mn-lt"/>
              </a:rPr>
              <a:t>Modellbewertung </a:t>
            </a:r>
            <a:r>
              <a:rPr lang="de-DE" dirty="0">
                <a:ea typeface="+mn-lt"/>
                <a:cs typeface="+mn-lt"/>
              </a:rPr>
              <a:t>mittels ROC-AUC, </a:t>
            </a:r>
            <a:r>
              <a:rPr lang="de-DE" dirty="0" err="1">
                <a:ea typeface="+mn-lt"/>
                <a:cs typeface="+mn-lt"/>
              </a:rPr>
              <a:t>Sensitivity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Specificity</a:t>
            </a:r>
            <a:r>
              <a:rPr lang="de-DE" dirty="0">
                <a:ea typeface="+mn-lt"/>
                <a:cs typeface="+mn-lt"/>
              </a:rPr>
              <a:t> und Konfusionsmatrix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A9B3DAEE-3DC6-C92D-A591-8EC9D305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0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D9B2D-61F1-8A21-774E-13BCA430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Versuche</a:t>
            </a:r>
          </a:p>
        </p:txBody>
      </p:sp>
      <p:pic>
        <p:nvPicPr>
          <p:cNvPr id="7" name="Inhaltsplatzhalter 6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6BC7EBDF-377A-B01F-606A-7E954FB3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1781"/>
            <a:ext cx="5801784" cy="4351338"/>
          </a:xfrm>
          <a:prstGeom prst="rect">
            <a:avLst/>
          </a:prstGeom>
        </p:spPr>
      </p:pic>
      <p:pic>
        <p:nvPicPr>
          <p:cNvPr id="3" name="그림 2" descr="Datei:Goethe-Logo.svg">
            <a:extLst>
              <a:ext uri="{FF2B5EF4-FFF2-40B4-BE49-F238E27FC236}">
                <a16:creationId xmlns:a16="http://schemas.microsoft.com/office/drawing/2014/main" id="{6E9F61EC-C794-D68D-9F84-D08E4750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3C5986A-C603-0D4A-1309-605DEE98AEF8}"/>
              </a:ext>
            </a:extLst>
          </p:cNvPr>
          <p:cNvSpPr txBox="1">
            <a:spLocks/>
          </p:cNvSpPr>
          <p:nvPr/>
        </p:nvSpPr>
        <p:spPr>
          <a:xfrm>
            <a:off x="6436567" y="1831781"/>
            <a:ext cx="55812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dirty="0">
              <a:ea typeface="맑은 고딕"/>
            </a:endParaRPr>
          </a:p>
          <a:p>
            <a:r>
              <a:rPr lang="en-US" altLang="ko-KR" sz="2000" dirty="0">
                <a:ea typeface="맑은 고딕"/>
              </a:rPr>
              <a:t>D</a:t>
            </a:r>
            <a:r>
              <a:rPr lang="ko-KR" altLang="ko-KR" sz="2000">
                <a:ea typeface="맑은 고딕"/>
              </a:rPr>
              <a:t>atensätze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erfolgreich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zusammengeführt</a:t>
            </a:r>
            <a:r>
              <a:rPr lang="ko-KR" altLang="ko-KR" sz="2000" dirty="0">
                <a:ea typeface="맑은 고딕"/>
              </a:rPr>
              <a:t> </a:t>
            </a:r>
            <a:endParaRPr lang="en-US" altLang="ko-KR" sz="2000" dirty="0">
              <a:ea typeface="맑은 고딕"/>
            </a:endParaRPr>
          </a:p>
          <a:p>
            <a:r>
              <a:rPr lang="ko-KR" altLang="ko-KR" sz="2000">
                <a:ea typeface="맑은 고딕"/>
              </a:rPr>
              <a:t>Pseudo-Absence-Generierung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implementiert</a:t>
            </a:r>
            <a:r>
              <a:rPr lang="ko-KR" altLang="ko-KR" sz="2000" dirty="0">
                <a:ea typeface="맑은 고딕"/>
              </a:rPr>
              <a:t> </a:t>
            </a:r>
            <a:endParaRPr lang="en-US" altLang="ko-KR" sz="2000" dirty="0">
              <a:ea typeface="맑은 고딕"/>
            </a:endParaRPr>
          </a:p>
          <a:p>
            <a:r>
              <a:rPr lang="ko-KR" altLang="ko-KR" sz="2000">
                <a:ea typeface="맑은 고딕"/>
              </a:rPr>
              <a:t>Erste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Random-Forest-Modelle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trainiert</a:t>
            </a:r>
            <a:endParaRPr lang="en-US" altLang="ko-KR" sz="2000" dirty="0">
              <a:ea typeface="맑은 고딕"/>
            </a:endParaRPr>
          </a:p>
          <a:p>
            <a:r>
              <a:rPr lang="ko-KR" altLang="ko-KR" sz="2000">
                <a:ea typeface="맑은 고딕"/>
              </a:rPr>
              <a:t>Rechenzeitproblem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bei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Distanzberechnungen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identifiziert</a:t>
            </a:r>
            <a:endParaRPr lang="ko-KR" altLang="de-DE" sz="2000" dirty="0">
              <a:ea typeface="맑은 고딕"/>
            </a:endParaRPr>
          </a:p>
          <a:p>
            <a:r>
              <a:rPr lang="ko-KR" altLang="de-DE" sz="2000">
                <a:ea typeface="맑은 고딕"/>
              </a:rPr>
              <a:t>(schlechte) Heatmap erstellt</a:t>
            </a:r>
          </a:p>
          <a:p>
            <a:endParaRPr lang="en-US" altLang="ko-KR" sz="2000" dirty="0">
              <a:ea typeface="맑은 고딕" panose="020B0503020000020004" pitchFamily="34" charset="-127"/>
            </a:endParaRPr>
          </a:p>
          <a:p>
            <a:pPr marL="0" indent="0">
              <a:buNone/>
            </a:pPr>
            <a:r>
              <a:rPr lang="en-US" sz="2400" b="1" dirty="0" err="1"/>
              <a:t>Herausforderungen</a:t>
            </a:r>
            <a:endParaRPr lang="en-US" sz="2400" b="1"/>
          </a:p>
          <a:p>
            <a:r>
              <a:rPr lang="ko-KR" altLang="ko-KR" sz="2000">
                <a:ea typeface="맑은 고딕"/>
              </a:rPr>
              <a:t>Optimierung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der</a:t>
            </a:r>
            <a:r>
              <a:rPr lang="ko-KR" altLang="ko-KR" sz="2000" dirty="0">
                <a:ea typeface="맑은 고딕"/>
              </a:rPr>
              <a:t> </a:t>
            </a:r>
            <a:r>
              <a:rPr lang="ko-KR" altLang="ko-KR" sz="2000">
                <a:ea typeface="맑은 고딕"/>
              </a:rPr>
              <a:t>Pseudo-Absence-Generierung</a:t>
            </a:r>
            <a:endParaRPr lang="en-US" altLang="ko-KR" sz="2000" dirty="0">
              <a:ea typeface="맑은 고딕"/>
            </a:endParaRPr>
          </a:p>
          <a:p>
            <a:r>
              <a:rPr lang="ko-KR" altLang="ko-KR" sz="2000">
                <a:ea typeface="맑은 고딕"/>
              </a:rPr>
              <a:t>Notwendig Abwägung zwischen Rasterauflösung und Rechenzeit</a:t>
            </a:r>
            <a:endParaRPr lang="de-DE" sz="20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2553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9CC91-7F74-6828-C089-14BD527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0E021-A602-8026-229A-7BB14E75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Modell-Alternativen:</a:t>
            </a:r>
            <a:r>
              <a:rPr lang="de-DE" dirty="0">
                <a:ea typeface="+mn-lt"/>
                <a:cs typeface="+mn-lt"/>
              </a:rPr>
              <a:t> Random Forest ist unser Basismodell. </a:t>
            </a:r>
            <a:r>
              <a:rPr lang="de-DE" dirty="0" err="1">
                <a:ea typeface="+mn-lt"/>
                <a:cs typeface="+mn-lt"/>
              </a:rPr>
              <a:t>MaxENT</a:t>
            </a:r>
            <a:r>
              <a:rPr lang="de-DE" dirty="0">
                <a:ea typeface="+mn-lt"/>
                <a:cs typeface="+mn-lt"/>
              </a:rPr>
              <a:t> ist in der archäologischen Fachliteratur weit verbreitet, da es rein mit </a:t>
            </a:r>
            <a:r>
              <a:rPr lang="de-DE" dirty="0" err="1">
                <a:ea typeface="+mn-lt"/>
                <a:cs typeface="+mn-lt"/>
              </a:rPr>
              <a:t>Presences</a:t>
            </a:r>
            <a:r>
              <a:rPr lang="de-DE" dirty="0">
                <a:ea typeface="+mn-lt"/>
                <a:cs typeface="+mn-lt"/>
              </a:rPr>
              <a:t> arbeitet. Beide parallel trainieren und die ROC-AUCs vergleichen.</a:t>
            </a:r>
          </a:p>
          <a:p>
            <a:r>
              <a:rPr lang="de-DE" b="1" dirty="0">
                <a:ea typeface="+mn-lt"/>
                <a:cs typeface="+mn-lt"/>
              </a:rPr>
              <a:t>Pseudo-</a:t>
            </a:r>
            <a:r>
              <a:rPr lang="de-DE" b="1" dirty="0" err="1">
                <a:ea typeface="+mn-lt"/>
                <a:cs typeface="+mn-lt"/>
              </a:rPr>
              <a:t>Absences</a:t>
            </a:r>
            <a:r>
              <a:rPr lang="de-DE" b="1" dirty="0">
                <a:ea typeface="+mn-lt"/>
                <a:cs typeface="+mn-lt"/>
              </a:rPr>
              <a:t> &amp; Bias:</a:t>
            </a:r>
            <a:r>
              <a:rPr lang="de-DE" dirty="0">
                <a:ea typeface="+mn-lt"/>
                <a:cs typeface="+mn-lt"/>
              </a:rPr>
              <a:t> Unsere Pseudo-</a:t>
            </a:r>
            <a:r>
              <a:rPr lang="de-DE" dirty="0" err="1">
                <a:ea typeface="+mn-lt"/>
                <a:cs typeface="+mn-lt"/>
              </a:rPr>
              <a:t>Absences</a:t>
            </a:r>
            <a:r>
              <a:rPr lang="de-DE" dirty="0">
                <a:ea typeface="+mn-lt"/>
                <a:cs typeface="+mn-lt"/>
              </a:rPr>
              <a:t> werden zufällig innerhalb Bayerns generiert. Stattdessen aus </a:t>
            </a:r>
            <a:r>
              <a:rPr lang="de-DE" i="1" dirty="0" err="1">
                <a:ea typeface="+mn-lt"/>
                <a:cs typeface="+mn-lt"/>
              </a:rPr>
              <a:t>sampling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bias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ziehen, also aus Regionen, die ähnlich gut prospektiert wurden wie die Fundorte.</a:t>
            </a:r>
          </a:p>
          <a:p>
            <a:r>
              <a:rPr lang="de-DE" b="1" dirty="0">
                <a:ea typeface="+mn-lt"/>
                <a:cs typeface="+mn-lt"/>
              </a:rPr>
              <a:t>Raster-Auflösung vs. Rechenzeit:</a:t>
            </a:r>
            <a:r>
              <a:rPr lang="de-DE" dirty="0">
                <a:ea typeface="+mn-lt"/>
                <a:cs typeface="+mn-lt"/>
              </a:rPr>
              <a:t> Parallele Verarbeitung via </a:t>
            </a:r>
            <a:r>
              <a:rPr lang="de-DE" dirty="0" err="1">
                <a:latin typeface="Consolas"/>
              </a:rPr>
              <a:t>future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>
                <a:latin typeface="Consolas"/>
              </a:rPr>
              <a:t>parallel</a:t>
            </a:r>
            <a:r>
              <a:rPr lang="de-DE" dirty="0">
                <a:latin typeface="Consolas"/>
                <a:ea typeface="+mn-lt"/>
                <a:cs typeface="+mn-lt"/>
              </a:rPr>
              <a:t>,</a:t>
            </a:r>
            <a:r>
              <a:rPr lang="de-DE" dirty="0">
                <a:ea typeface="+mn-lt"/>
                <a:cs typeface="+mn-lt"/>
              </a:rPr>
              <a:t> für bessere Auflösung.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4566555-5BEA-FF9A-5B46-232C43AA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CCAC-A6CA-926E-A14B-7A26D7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4E44F-BAA7-C705-8E78-FF6CC3A9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B4579-4EA3-C3CB-B6ED-C12366A6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MSQR als Prädiktor / historische Validität:</a:t>
            </a:r>
            <a:r>
              <a:rPr lang="de-DE" dirty="0">
                <a:ea typeface="+mn-lt"/>
                <a:cs typeface="+mn-lt"/>
              </a:rPr>
              <a:t> Das Müncheberg Soil Quality Rating bewertet Böden nach modernen landwirtschaftlichen Maßstäben. Bodenparameter finden, die für die Eisenzeit spezifisch relevanter wären, </a:t>
            </a:r>
            <a:br>
              <a:rPr lang="de-DE" dirty="0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z.B. </a:t>
            </a:r>
            <a:r>
              <a:rPr lang="de-DE" dirty="0">
                <a:ea typeface="+mn-lt"/>
                <a:cs typeface="+mn-lt"/>
              </a:rPr>
              <a:t>Drainageverhältnisse oder Humusgehalt.</a:t>
            </a:r>
          </a:p>
          <a:p>
            <a:r>
              <a:rPr lang="ko-KR" altLang="ko-KR">
                <a:ea typeface="맑은 고딕"/>
              </a:rPr>
              <a:t>Prüfung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zusätzlicher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Umwelt</a:t>
            </a:r>
            <a:r>
              <a:rPr lang="ko-KR" altLang="ko-KR" dirty="0">
                <a:ea typeface="맑은 고딕"/>
              </a:rPr>
              <a:t>- </a:t>
            </a:r>
            <a:r>
              <a:rPr lang="ko-KR" altLang="ko-KR">
                <a:ea typeface="맑은 고딕"/>
              </a:rPr>
              <a:t>und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Landschaftsvariablen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aus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dem</a:t>
            </a:r>
            <a:r>
              <a:rPr lang="ko-KR" altLang="ko-KR" dirty="0">
                <a:ea typeface="맑은 고딕"/>
              </a:rPr>
              <a:t> </a:t>
            </a:r>
            <a:r>
              <a:rPr lang="ko-KR" altLang="ko-KR" b="1">
                <a:ea typeface="맑은 고딕"/>
              </a:rPr>
              <a:t>BayernAtlas</a:t>
            </a:r>
            <a:r>
              <a:rPr lang="ko-KR" altLang="ko-KR" b="1" dirty="0">
                <a:ea typeface="맑은 고딕"/>
                <a:cs typeface="+mn-lt"/>
              </a:rPr>
              <a:t> </a:t>
            </a:r>
            <a:r>
              <a:rPr lang="de-DE" dirty="0">
                <a:ea typeface="+mn-lt"/>
                <a:cs typeface="+mn-lt"/>
              </a:rPr>
              <a:t>(https://atlas.bayern.de)</a:t>
            </a:r>
          </a:p>
          <a:p>
            <a:endParaRPr lang="de-DE" dirty="0">
              <a:ea typeface="+mn-lt"/>
              <a:cs typeface="+mn-lt"/>
            </a:endParaRP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8A96E047-31FD-1F38-EEB0-6ACE1128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02BD1-A00D-877A-DBA0-E1F115BD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779"/>
            <a:ext cx="10515600" cy="1325563"/>
          </a:xfrm>
        </p:spPr>
        <p:txBody>
          <a:bodyPr/>
          <a:lstStyle/>
          <a:p>
            <a:pPr algn="ctr"/>
            <a:r>
              <a:rPr lang="de-DE" altLang="ko-KR"/>
              <a:t>Vielen Dank!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BE5DB1C8-3685-D8F5-FDE4-7F50A841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2223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366</Words>
  <Application>Microsoft Office PowerPoint</Application>
  <PresentationFormat>Breitbild</PresentationFormat>
  <Paragraphs>50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Larissa</vt:lpstr>
      <vt:lpstr>Data Challenges Zwischenpräsentation </vt:lpstr>
      <vt:lpstr>Thema: Predictive Modelling</vt:lpstr>
      <vt:lpstr>Vorgehen</vt:lpstr>
      <vt:lpstr>Zeitplan</vt:lpstr>
      <vt:lpstr>R Skript Aufbau</vt:lpstr>
      <vt:lpstr>Erste Versuche</vt:lpstr>
      <vt:lpstr>Ideen / Vorhaben</vt:lpstr>
      <vt:lpstr>Ideen / Vorhaben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tkof6kkmo0@goetheuniversitaet.onmicrosoft.com</cp:lastModifiedBy>
  <cp:revision>180</cp:revision>
  <dcterms:created xsi:type="dcterms:W3CDTF">2026-06-03T16:23:37Z</dcterms:created>
  <dcterms:modified xsi:type="dcterms:W3CDTF">2026-06-10T19:05:55Z</dcterms:modified>
</cp:coreProperties>
</file>