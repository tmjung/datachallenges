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6" r:id="rId5"/>
    <p:sldId id="258" r:id="rId6"/>
    <p:sldId id="259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D4DBCE-0773-43E0-B2ED-FF1E668A930E}" v="628" dt="2026-06-09T16:29:43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698172"/>
            <a:ext cx="9144000" cy="1845923"/>
          </a:xfrm>
        </p:spPr>
        <p:txBody>
          <a:bodyPr>
            <a:normAutofit fontScale="90000"/>
          </a:bodyPr>
          <a:lstStyle/>
          <a:p>
            <a:r>
              <a:rPr lang="de-DE"/>
              <a:t>Data Challenges</a:t>
            </a:r>
            <a:br>
              <a:rPr lang="de-DE" dirty="0"/>
            </a:br>
            <a:r>
              <a:rPr lang="de-DE"/>
              <a:t>-</a:t>
            </a:r>
            <a:br>
              <a:rPr lang="de-DE" dirty="0"/>
            </a:br>
            <a:r>
              <a:rPr lang="de-DE"/>
              <a:t>Zwischenpräsentation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411522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ko-KR">
                <a:ea typeface="맑은 고딕"/>
              </a:rPr>
              <a:t>5217982 - Toni </a:t>
            </a:r>
            <a:r>
              <a:rPr lang="ko-KR" altLang="ko-KR" dirty="0">
                <a:ea typeface="맑은 고딕"/>
              </a:rPr>
              <a:t>Jungbeck</a:t>
            </a:r>
            <a:endParaRPr lang="de-DE">
              <a:ea typeface="맑은 고딕"/>
            </a:endParaRPr>
          </a:p>
          <a:p>
            <a:r>
              <a:rPr lang="de-DE" dirty="0"/>
              <a:t>8528087 - </a:t>
            </a:r>
            <a:r>
              <a:rPr lang="de-DE" dirty="0" err="1"/>
              <a:t>Bonju</a:t>
            </a:r>
            <a:r>
              <a:rPr lang="de-DE" dirty="0"/>
              <a:t> Koo</a:t>
            </a: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98BEFAA7-3947-1298-6C11-A93D2D1EA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005256-8DC1-7F2A-C5EC-C5FB0A96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Thema: </a:t>
            </a:r>
            <a:r>
              <a:rPr lang="de-DE" altLang="ko-KR" dirty="0" err="1"/>
              <a:t>Predictive</a:t>
            </a:r>
            <a:r>
              <a:rPr lang="de-DE" altLang="ko-KR" dirty="0"/>
              <a:t> Modelling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A50ED0-0AF3-C877-9996-EC91EB80E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Forschungsfrage</a:t>
            </a:r>
            <a:r>
              <a:rPr lang="en-US" altLang="ko-KR" dirty="0"/>
              <a:t>: </a:t>
            </a:r>
            <a:r>
              <a:rPr lang="ko-KR" altLang="ko-KR" dirty="0" err="1"/>
              <a:t>Welche</a:t>
            </a:r>
            <a:r>
              <a:rPr lang="ko-KR" altLang="ko-KR" dirty="0"/>
              <a:t> </a:t>
            </a:r>
            <a:r>
              <a:rPr lang="ko-KR" altLang="ko-KR" dirty="0" err="1"/>
              <a:t>Umwelt</a:t>
            </a:r>
            <a:r>
              <a:rPr lang="ko-KR" altLang="ko-KR" dirty="0"/>
              <a:t>-, </a:t>
            </a:r>
            <a:r>
              <a:rPr lang="ko-KR" altLang="ko-KR" dirty="0" err="1"/>
              <a:t>Klima</a:t>
            </a:r>
            <a:r>
              <a:rPr lang="ko-KR" altLang="ko-KR" dirty="0"/>
              <a:t>- </a:t>
            </a:r>
            <a:r>
              <a:rPr lang="ko-KR" altLang="ko-KR" dirty="0" err="1"/>
              <a:t>und</a:t>
            </a:r>
            <a:r>
              <a:rPr lang="ko-KR" altLang="ko-KR" dirty="0"/>
              <a:t> </a:t>
            </a:r>
            <a:r>
              <a:rPr lang="ko-KR" altLang="ko-KR" dirty="0" err="1"/>
              <a:t>Bodenfaktoren</a:t>
            </a:r>
            <a:r>
              <a:rPr lang="ko-KR" altLang="ko-KR" dirty="0"/>
              <a:t> </a:t>
            </a:r>
            <a:r>
              <a:rPr lang="ko-KR" altLang="ko-KR" dirty="0" err="1"/>
              <a:t>beeinflussen</a:t>
            </a:r>
            <a:r>
              <a:rPr lang="ko-KR" altLang="ko-KR" dirty="0"/>
              <a:t> </a:t>
            </a:r>
            <a:r>
              <a:rPr lang="ko-KR" altLang="ko-KR" dirty="0" err="1"/>
              <a:t>die</a:t>
            </a:r>
            <a:r>
              <a:rPr lang="ko-KR" altLang="ko-KR" dirty="0"/>
              <a:t> </a:t>
            </a:r>
            <a:r>
              <a:rPr lang="ko-KR" altLang="ko-KR" dirty="0" err="1"/>
              <a:t>Lage</a:t>
            </a:r>
            <a:r>
              <a:rPr lang="ko-KR" altLang="ko-KR" dirty="0"/>
              <a:t> </a:t>
            </a:r>
            <a:r>
              <a:rPr lang="ko-KR" altLang="ko-KR" dirty="0" err="1"/>
              <a:t>eisenzeitlicher</a:t>
            </a:r>
            <a:r>
              <a:rPr lang="ko-KR" altLang="ko-KR" dirty="0"/>
              <a:t> </a:t>
            </a:r>
            <a:r>
              <a:rPr lang="ko-KR" altLang="ko-KR" dirty="0" err="1"/>
              <a:t>Fundorte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Bayern</a:t>
            </a:r>
            <a:r>
              <a:rPr lang="ko-KR" altLang="ko-KR" dirty="0"/>
              <a:t>, </a:t>
            </a:r>
            <a:r>
              <a:rPr lang="ko-KR" altLang="ko-KR" dirty="0" err="1"/>
              <a:t>und</a:t>
            </a:r>
            <a:r>
              <a:rPr lang="ko-KR" altLang="ko-KR" dirty="0"/>
              <a:t> </a:t>
            </a:r>
            <a:r>
              <a:rPr lang="ko-KR" altLang="ko-KR" dirty="0" err="1"/>
              <a:t>können</a:t>
            </a:r>
            <a:r>
              <a:rPr lang="ko-KR" altLang="ko-KR" dirty="0"/>
              <a:t> </a:t>
            </a:r>
            <a:r>
              <a:rPr lang="ko-KR" altLang="ko-KR" dirty="0" err="1"/>
              <a:t>daraus</a:t>
            </a:r>
            <a:r>
              <a:rPr lang="ko-KR" altLang="ko-KR" dirty="0"/>
              <a:t> </a:t>
            </a:r>
            <a:r>
              <a:rPr lang="ko-KR" altLang="ko-KR" dirty="0" err="1"/>
              <a:t>bisher</a:t>
            </a:r>
            <a:r>
              <a:rPr lang="ko-KR" altLang="ko-KR" dirty="0"/>
              <a:t> </a:t>
            </a:r>
            <a:r>
              <a:rPr lang="ko-KR" altLang="ko-KR" dirty="0" err="1"/>
              <a:t>unbekannte</a:t>
            </a:r>
            <a:r>
              <a:rPr lang="ko-KR" altLang="ko-KR" dirty="0"/>
              <a:t> </a:t>
            </a:r>
            <a:r>
              <a:rPr lang="ko-KR" altLang="ko-KR" dirty="0" err="1"/>
              <a:t>Fundortwahrscheinlichkeiten</a:t>
            </a:r>
            <a:r>
              <a:rPr lang="ko-KR" altLang="ko-KR" dirty="0"/>
              <a:t> </a:t>
            </a:r>
            <a:r>
              <a:rPr lang="ko-KR" altLang="ko-KR" dirty="0" err="1"/>
              <a:t>vorhergesagt</a:t>
            </a:r>
            <a:r>
              <a:rPr lang="ko-KR" altLang="ko-KR" dirty="0"/>
              <a:t> </a:t>
            </a:r>
            <a:r>
              <a:rPr lang="ko-KR" altLang="ko-KR" dirty="0" err="1"/>
              <a:t>werden</a:t>
            </a:r>
            <a:r>
              <a:rPr lang="ko-KR" altLang="ko-KR" dirty="0"/>
              <a:t>?</a:t>
            </a:r>
            <a:endParaRPr lang="ko-KR" altLang="en-US" dirty="0"/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3C59D73C-C6CF-E7DE-9296-149E71892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76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6306DD-9450-F239-BEB4-9601239A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Vorgehen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44E44B-3CF6-3A14-3CEA-C1FDE76E0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Programmiersprache R</a:t>
            </a:r>
          </a:p>
          <a:p>
            <a:r>
              <a:rPr lang="de-DE" dirty="0"/>
              <a:t>Model Random Forest</a:t>
            </a:r>
          </a:p>
          <a:p>
            <a:r>
              <a:rPr lang="de-DE" dirty="0" err="1"/>
              <a:t>Heatmap</a:t>
            </a:r>
            <a:r>
              <a:rPr lang="de-DE" dirty="0"/>
              <a:t> mit Wahrscheinlichkeiten</a:t>
            </a: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E11E6F32-73DD-A9C9-09EF-6A4EA4D2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8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69DE-9A5C-23DF-D206-6FEA75B27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CEC329-B43A-9348-FA57-40A5C56BE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2F7AAD9D-7D95-F558-5B85-D4404548E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E98BE195-5AFC-CBBA-6BA7-DDE09367D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403392"/>
              </p:ext>
            </p:extLst>
          </p:nvPr>
        </p:nvGraphicFramePr>
        <p:xfrm>
          <a:off x="834571" y="1714500"/>
          <a:ext cx="10405984" cy="45185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68661">
                  <a:extLst>
                    <a:ext uri="{9D8B030D-6E8A-4147-A177-3AD203B41FA5}">
                      <a16:colId xmlns:a16="http://schemas.microsoft.com/office/drawing/2014/main" val="951725254"/>
                    </a:ext>
                  </a:extLst>
                </a:gridCol>
                <a:gridCol w="2015551">
                  <a:extLst>
                    <a:ext uri="{9D8B030D-6E8A-4147-A177-3AD203B41FA5}">
                      <a16:colId xmlns:a16="http://schemas.microsoft.com/office/drawing/2014/main" val="207382626"/>
                    </a:ext>
                  </a:extLst>
                </a:gridCol>
                <a:gridCol w="4921772">
                  <a:extLst>
                    <a:ext uri="{9D8B030D-6E8A-4147-A177-3AD203B41FA5}">
                      <a16:colId xmlns:a16="http://schemas.microsoft.com/office/drawing/2014/main" val="4218744439"/>
                    </a:ext>
                  </a:extLst>
                </a:gridCol>
              </a:tblGrid>
              <a:tr h="521922">
                <a:tc>
                  <a:txBody>
                    <a:bodyPr/>
                    <a:lstStyle/>
                    <a:p>
                      <a:r>
                        <a:rPr lang="de-DE" sz="1600"/>
                        <a:t>Setup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April 2026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Aufsetzen GIT-Repo, DB-Import der SQL-Dumps, Datenexploration, Koordinatenprüfung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540788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r>
                        <a:rPr lang="de-DE" sz="1600"/>
                        <a:t>Raster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Mai 2026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0" i="0" u="none" strike="noStrike" noProof="0" dirty="0">
                          <a:latin typeface="Aptos"/>
                        </a:rPr>
                        <a:t>Bodenkarte + MSQR </a:t>
                      </a:r>
                      <a:r>
                        <a:rPr lang="de-DE" sz="1600" b="0" i="0" u="none" strike="noStrike" noProof="0" dirty="0" err="1">
                          <a:latin typeface="Aptos"/>
                        </a:rPr>
                        <a:t>rasterisiert</a:t>
                      </a:r>
                      <a:r>
                        <a:rPr lang="de-DE" sz="1600" b="0" i="0" u="none" strike="noStrike" noProof="0" dirty="0">
                          <a:latin typeface="Aptos"/>
                        </a:rPr>
                        <a:t>, SRTM beschafft, Raster-Stack validiert 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90695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r>
                        <a:rPr lang="de-DE" sz="1600"/>
                        <a:t>Modell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Mai 2026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0" i="0" u="none" strike="noStrike" noProof="0" dirty="0">
                          <a:latin typeface="Aptos"/>
                        </a:rPr>
                        <a:t>Random Forest trainiert, CV-Metriken berechnet, Variable </a:t>
                      </a:r>
                      <a:r>
                        <a:rPr lang="de-DE" sz="1600" b="0" i="0" u="none" strike="noStrike" noProof="0" dirty="0" err="1">
                          <a:latin typeface="Aptos"/>
                        </a:rPr>
                        <a:t>Importance</a:t>
                      </a:r>
                      <a:r>
                        <a:rPr lang="de-DE" sz="1600" b="0" i="0" u="none" strike="noStrike" noProof="0" dirty="0">
                          <a:latin typeface="Aptos"/>
                        </a:rPr>
                        <a:t> analysiert 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143938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r>
                        <a:rPr lang="de-DE" sz="1600" dirty="0" err="1"/>
                        <a:t>Heatmap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Juni 2026</a:t>
                      </a:r>
                      <a:br>
                        <a:rPr lang="de-DE" sz="1600" dirty="0"/>
                      </a:br>
                      <a:r>
                        <a:rPr lang="de-DE" sz="1600" dirty="0"/>
                        <a:t>vor </a:t>
                      </a:r>
                      <a:r>
                        <a:rPr lang="de-DE" sz="1600" dirty="0" err="1"/>
                        <a:t>Zwischenpräsi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0" i="0" u="none" strike="noStrike" noProof="0" dirty="0" err="1">
                          <a:latin typeface="Aptos"/>
                        </a:rPr>
                        <a:t>Heatmap-GeoTIFF</a:t>
                      </a:r>
                      <a:r>
                        <a:rPr lang="de-DE" sz="1600" b="0" i="0" u="none" strike="noStrike" noProof="0" dirty="0">
                          <a:latin typeface="Aptos"/>
                        </a:rPr>
                        <a:t> fertig, PNG exportiert, QGIS-Layout erstellt 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960396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1"/>
                        <a:t>Zwischenpräsentation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/>
                        <a:t>11. Juni 2026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734915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/>
                        <a:t>Verfeinerung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/>
                        <a:t>Juni 2026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0" i="0" u="none" strike="noStrike" noProof="0" dirty="0" err="1">
                          <a:latin typeface="Aptos"/>
                        </a:rPr>
                        <a:t>Spatial</a:t>
                      </a:r>
                      <a:r>
                        <a:rPr lang="de-DE" sz="1600" b="0" i="0" u="none" strike="noStrike" noProof="0" dirty="0">
                          <a:latin typeface="Aptos"/>
                        </a:rPr>
                        <a:t> Block CV, Perioden-Teilmodelle, Sensitivitätsanalysen 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550108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/>
                        <a:t>Abschluss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dirty="0"/>
                        <a:t>Juli 2026</a:t>
                      </a:r>
                      <a:br>
                        <a:rPr lang="de-DE" sz="1600" dirty="0"/>
                      </a:br>
                      <a:r>
                        <a:rPr lang="de-DE" sz="1600" dirty="0"/>
                        <a:t>vor </a:t>
                      </a:r>
                      <a:r>
                        <a:rPr lang="de-DE" sz="1600" dirty="0" err="1"/>
                        <a:t>Abschlusspräsi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0" i="0" u="none" strike="noStrike" noProof="0">
                          <a:latin typeface="Aptos"/>
                        </a:rPr>
                        <a:t>Finales Modell, Abschlussbericht, Präsentationsfolien 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233921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1"/>
                        <a:t>Abschlusspräsentation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/>
                        <a:t>09. Juli 2026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de-DE" sz="1600" b="0" i="0" u="none" strike="noStrike" noProof="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546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29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7E97B-BDE8-EBBE-A96D-0BBCC2FA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 Skript Aufbau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D672D8-EFC3-3BA4-5643-8DC38A056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de-DE" b="1" dirty="0">
                <a:ea typeface="+mn-lt"/>
                <a:cs typeface="+mn-lt"/>
              </a:rPr>
              <a:t>DB-Verbindung</a:t>
            </a:r>
            <a:r>
              <a:rPr lang="de-DE">
                <a:ea typeface="+mn-lt"/>
                <a:cs typeface="+mn-lt"/>
              </a:rPr>
              <a:t> / Einlesen von umgewandelten CSV-Dateien</a:t>
            </a:r>
            <a:endParaRPr lang="de-DE"/>
          </a:p>
          <a:p>
            <a:r>
              <a:rPr lang="de-DE" b="1" dirty="0">
                <a:ea typeface="+mn-lt"/>
                <a:cs typeface="+mn-lt"/>
              </a:rPr>
              <a:t>Bereinigung: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Komma→Punkt-Konvertierung</a:t>
            </a:r>
            <a:r>
              <a:rPr lang="de-DE" dirty="0">
                <a:ea typeface="+mn-lt"/>
                <a:cs typeface="+mn-lt"/>
              </a:rPr>
              <a:t>, NA-Filter</a:t>
            </a:r>
            <a:endParaRPr lang="de-DE" dirty="0"/>
          </a:p>
          <a:p>
            <a:r>
              <a:rPr lang="de-DE" b="1">
                <a:ea typeface="+mn-lt"/>
                <a:cs typeface="+mn-lt"/>
              </a:rPr>
              <a:t>Pseudo-Absence-Generierung:</a:t>
            </a:r>
            <a:r>
              <a:rPr lang="de-DE">
                <a:ea typeface="+mn-lt"/>
                <a:cs typeface="+mn-lt"/>
              </a:rPr>
              <a:t> zufällige Punkte in Bayern mit Mindestabstand (5 km) zu bekannten Fundorten </a:t>
            </a:r>
            <a:r>
              <a:rPr lang="de-DE" err="1">
                <a:ea typeface="+mn-lt"/>
                <a:cs typeface="+mn-lt"/>
              </a:rPr>
              <a:t>generi</a:t>
            </a:r>
            <a:r>
              <a:rPr lang="de-DE">
                <a:ea typeface="+mn-lt"/>
                <a:cs typeface="+mn-lt"/>
              </a:rPr>
              <a:t>eren</a:t>
            </a:r>
            <a:endParaRPr lang="de-DE"/>
          </a:p>
          <a:p>
            <a:r>
              <a:rPr lang="de-DE" b="1">
                <a:ea typeface="+mn-lt"/>
                <a:cs typeface="+mn-lt"/>
              </a:rPr>
              <a:t>Trainings-Datensatz</a:t>
            </a:r>
            <a:r>
              <a:rPr lang="de-DE">
                <a:ea typeface="+mn-lt"/>
                <a:cs typeface="+mn-lt"/>
              </a:rPr>
              <a:t> zusammensetzen 1:2 Presence/Absence-Verhältnis</a:t>
            </a:r>
            <a:endParaRPr lang="de-DE"/>
          </a:p>
          <a:p>
            <a:r>
              <a:rPr lang="de-DE" b="1" dirty="0">
                <a:ea typeface="+mn-lt"/>
                <a:cs typeface="+mn-lt"/>
              </a:rPr>
              <a:t>Random Forest </a:t>
            </a:r>
            <a:r>
              <a:rPr lang="de-DE" dirty="0">
                <a:ea typeface="+mn-lt"/>
                <a:cs typeface="+mn-lt"/>
              </a:rPr>
              <a:t>trainieren (via </a:t>
            </a:r>
            <a:r>
              <a:rPr lang="de-DE" dirty="0" err="1">
                <a:latin typeface="Consolas"/>
              </a:rPr>
              <a:t>ranger</a:t>
            </a:r>
            <a:r>
              <a:rPr lang="de-DE" dirty="0">
                <a:ea typeface="+mn-lt"/>
                <a:cs typeface="+mn-lt"/>
              </a:rPr>
              <a:t> + </a:t>
            </a:r>
            <a:r>
              <a:rPr lang="de-DE" dirty="0" err="1">
                <a:latin typeface="Consolas"/>
              </a:rPr>
              <a:t>caret</a:t>
            </a:r>
            <a:r>
              <a:rPr lang="de-DE" dirty="0">
                <a:ea typeface="+mn-lt"/>
                <a:cs typeface="+mn-lt"/>
              </a:rPr>
              <a:t>) mit 5-fold Cross-Validation, ROC als Metrik</a:t>
            </a:r>
            <a:endParaRPr lang="de-DE" dirty="0"/>
          </a:p>
          <a:p>
            <a:r>
              <a:rPr lang="de-DE" b="1">
                <a:ea typeface="+mn-lt"/>
                <a:cs typeface="+mn-lt"/>
              </a:rPr>
              <a:t>Vorhersage-Raster</a:t>
            </a:r>
            <a:r>
              <a:rPr lang="de-DE">
                <a:ea typeface="+mn-lt"/>
                <a:cs typeface="+mn-lt"/>
              </a:rPr>
              <a:t> erstellen; Gitterpunkte über ganz Bayern</a:t>
            </a:r>
            <a:endParaRPr lang="de-DE"/>
          </a:p>
          <a:p>
            <a:r>
              <a:rPr lang="de-DE" b="1" dirty="0" err="1">
                <a:ea typeface="+mn-lt"/>
                <a:cs typeface="+mn-lt"/>
              </a:rPr>
              <a:t>terra</a:t>
            </a:r>
            <a:r>
              <a:rPr lang="de-DE" b="1" dirty="0">
                <a:ea typeface="+mn-lt"/>
                <a:cs typeface="+mn-lt"/>
              </a:rPr>
              <a:t>-Raster: </a:t>
            </a:r>
            <a:r>
              <a:rPr lang="de-DE" dirty="0">
                <a:ea typeface="+mn-lt"/>
                <a:cs typeface="+mn-lt"/>
              </a:rPr>
              <a:t>Ausgabe als </a:t>
            </a:r>
            <a:r>
              <a:rPr lang="de-DE" dirty="0" err="1">
                <a:ea typeface="+mn-lt"/>
                <a:cs typeface="+mn-lt"/>
              </a:rPr>
              <a:t>GeoTIFF</a:t>
            </a:r>
            <a:r>
              <a:rPr lang="de-DE" dirty="0">
                <a:ea typeface="+mn-lt"/>
                <a:cs typeface="+mn-lt"/>
              </a:rPr>
              <a:t> (für QGIS direkt nutzbar)</a:t>
            </a:r>
            <a:endParaRPr lang="de-DE" dirty="0"/>
          </a:p>
          <a:p>
            <a:r>
              <a:rPr lang="de-DE" b="1">
                <a:ea typeface="+mn-lt"/>
                <a:cs typeface="+mn-lt"/>
              </a:rPr>
              <a:t>ggplot2-Heatmap:</a:t>
            </a:r>
            <a:r>
              <a:rPr lang="de-DE" b="1" dirty="0">
                <a:latin typeface="Aptos"/>
                <a:ea typeface="+mn-lt"/>
                <a:cs typeface="+mn-lt"/>
              </a:rPr>
              <a:t> </a:t>
            </a:r>
            <a:r>
              <a:rPr lang="de-DE">
                <a:latin typeface="Consolas"/>
                <a:ea typeface="+mn-lt"/>
                <a:cs typeface="+mn-lt"/>
              </a:rPr>
              <a:t>viridis</a:t>
            </a:r>
            <a:r>
              <a:rPr lang="de-DE">
                <a:latin typeface="Consolas"/>
              </a:rPr>
              <a:t>/magma</a:t>
            </a:r>
            <a:r>
              <a:rPr lang="de-DE">
                <a:ea typeface="+mn-lt"/>
                <a:cs typeface="+mn-lt"/>
              </a:rPr>
              <a:t>-Farbskala + bekannte Fundorte als gelbe Punkte</a:t>
            </a:r>
            <a:endParaRPr lang="de-DE"/>
          </a:p>
          <a:p>
            <a:r>
              <a:rPr lang="de-DE" b="1" dirty="0">
                <a:ea typeface="+mn-lt"/>
                <a:cs typeface="+mn-lt"/>
              </a:rPr>
              <a:t>Evaluation</a:t>
            </a:r>
            <a:r>
              <a:rPr lang="de-DE" dirty="0">
                <a:ea typeface="+mn-lt"/>
                <a:cs typeface="+mn-lt"/>
              </a:rPr>
              <a:t> des Modells, auf AUC, </a:t>
            </a:r>
            <a:r>
              <a:rPr lang="de-DE" dirty="0" err="1">
                <a:ea typeface="+mn-lt"/>
                <a:cs typeface="+mn-lt"/>
              </a:rPr>
              <a:t>Sensitivity</a:t>
            </a:r>
            <a:r>
              <a:rPr lang="de-DE" dirty="0">
                <a:ea typeface="+mn-lt"/>
                <a:cs typeface="+mn-lt"/>
              </a:rPr>
              <a:t>, </a:t>
            </a:r>
            <a:r>
              <a:rPr lang="de-DE" dirty="0" err="1">
                <a:ea typeface="+mn-lt"/>
                <a:cs typeface="+mn-lt"/>
              </a:rPr>
              <a:t>Specificity</a:t>
            </a:r>
            <a:r>
              <a:rPr lang="de-DE" dirty="0">
                <a:ea typeface="+mn-lt"/>
                <a:cs typeface="+mn-lt"/>
              </a:rPr>
              <a:t>, Konfusionsmatrix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A9B3DAEE-3DC6-C92D-A591-8EC9D305B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30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CD9B2D-61F1-8A21-774E-13BCA430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Erste Versuche</a:t>
            </a:r>
          </a:p>
        </p:txBody>
      </p:sp>
      <p:pic>
        <p:nvPicPr>
          <p:cNvPr id="7" name="Inhaltsplatzhalter 6" descr="Ein Bild, das Text, Diagramm enthält.&#10;&#10;KI-generierte Inhalte können fehlerhaft sein.">
            <a:extLst>
              <a:ext uri="{FF2B5EF4-FFF2-40B4-BE49-F238E27FC236}">
                <a16:creationId xmlns:a16="http://schemas.microsoft.com/office/drawing/2014/main" id="{6BC7EBDF-377A-B01F-606A-7E954FB30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1781"/>
            <a:ext cx="5801784" cy="4351338"/>
          </a:xfrm>
          <a:prstGeom prst="rect">
            <a:avLst/>
          </a:prstGeom>
        </p:spPr>
      </p:pic>
      <p:pic>
        <p:nvPicPr>
          <p:cNvPr id="3" name="그림 2" descr="Datei:Goethe-Logo.svg">
            <a:extLst>
              <a:ext uri="{FF2B5EF4-FFF2-40B4-BE49-F238E27FC236}">
                <a16:creationId xmlns:a16="http://schemas.microsoft.com/office/drawing/2014/main" id="{6E9F61EC-C794-D68D-9F84-D08E4750D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3C5986A-C603-0D4A-1309-605DEE98AEF8}"/>
              </a:ext>
            </a:extLst>
          </p:cNvPr>
          <p:cNvSpPr txBox="1">
            <a:spLocks/>
          </p:cNvSpPr>
          <p:nvPr/>
        </p:nvSpPr>
        <p:spPr>
          <a:xfrm>
            <a:off x="6436567" y="1831781"/>
            <a:ext cx="558126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sz="1800" dirty="0"/>
              <a:t>D</a:t>
            </a:r>
            <a:r>
              <a:rPr lang="ko-KR" altLang="ko-KR" sz="1800" dirty="0" err="1"/>
              <a:t>atensätze</a:t>
            </a:r>
            <a:r>
              <a:rPr lang="ko-KR" altLang="ko-KR" sz="1800" dirty="0"/>
              <a:t> </a:t>
            </a:r>
            <a:r>
              <a:rPr lang="ko-KR" altLang="ko-KR" sz="1800" dirty="0" err="1"/>
              <a:t>erfolgreich</a:t>
            </a:r>
            <a:r>
              <a:rPr lang="ko-KR" altLang="ko-KR" sz="1800" dirty="0"/>
              <a:t> </a:t>
            </a:r>
            <a:r>
              <a:rPr lang="ko-KR" altLang="ko-KR" sz="1800" dirty="0" err="1"/>
              <a:t>zusammengeführt</a:t>
            </a:r>
            <a:r>
              <a:rPr lang="ko-KR" altLang="ko-KR" sz="1800" dirty="0"/>
              <a:t> </a:t>
            </a:r>
            <a:endParaRPr lang="en-US" altLang="ko-KR" sz="1800" dirty="0"/>
          </a:p>
          <a:p>
            <a:r>
              <a:rPr lang="ko-KR" altLang="ko-KR" sz="1800" dirty="0" err="1"/>
              <a:t>Pseudo-Absence-Generierung</a:t>
            </a:r>
            <a:r>
              <a:rPr lang="ko-KR" altLang="ko-KR" sz="1800" dirty="0"/>
              <a:t> </a:t>
            </a:r>
            <a:r>
              <a:rPr lang="ko-KR" altLang="ko-KR" sz="1800" dirty="0" err="1"/>
              <a:t>implementiert</a:t>
            </a:r>
            <a:r>
              <a:rPr lang="ko-KR" altLang="ko-KR" sz="1800" dirty="0"/>
              <a:t> </a:t>
            </a:r>
            <a:endParaRPr lang="en-US" altLang="ko-KR" sz="1800" dirty="0"/>
          </a:p>
          <a:p>
            <a:r>
              <a:rPr lang="ko-KR" altLang="ko-KR" sz="1800" dirty="0" err="1"/>
              <a:t>Erste</a:t>
            </a:r>
            <a:r>
              <a:rPr lang="ko-KR" altLang="ko-KR" sz="1800" dirty="0"/>
              <a:t> </a:t>
            </a:r>
            <a:r>
              <a:rPr lang="ko-KR" altLang="ko-KR" sz="1800" dirty="0" err="1"/>
              <a:t>Random-Forest-Modelle</a:t>
            </a:r>
            <a:r>
              <a:rPr lang="ko-KR" altLang="ko-KR" sz="1800" dirty="0"/>
              <a:t> </a:t>
            </a:r>
            <a:r>
              <a:rPr lang="ko-KR" altLang="ko-KR" sz="1800" dirty="0" err="1"/>
              <a:t>trainiert</a:t>
            </a:r>
            <a:endParaRPr lang="en-US" altLang="ko-KR" sz="1800" dirty="0"/>
          </a:p>
          <a:p>
            <a:r>
              <a:rPr lang="ko-KR" altLang="ko-KR" sz="1800" dirty="0"/>
              <a:t> </a:t>
            </a:r>
            <a:r>
              <a:rPr lang="ko-KR" altLang="ko-KR" sz="1800" dirty="0" err="1"/>
              <a:t>Rechenzeitproblem</a:t>
            </a:r>
            <a:r>
              <a:rPr lang="ko-KR" altLang="ko-KR" sz="1800" dirty="0"/>
              <a:t> </a:t>
            </a:r>
            <a:r>
              <a:rPr lang="ko-KR" altLang="ko-KR" sz="1800" dirty="0" err="1"/>
              <a:t>bei</a:t>
            </a:r>
            <a:r>
              <a:rPr lang="ko-KR" altLang="ko-KR" sz="1800" dirty="0"/>
              <a:t> </a:t>
            </a:r>
            <a:r>
              <a:rPr lang="ko-KR" altLang="ko-KR" sz="1800" dirty="0" err="1"/>
              <a:t>Distanzberechnungen</a:t>
            </a:r>
            <a:r>
              <a:rPr lang="ko-KR" altLang="ko-KR" sz="1800" dirty="0"/>
              <a:t> </a:t>
            </a:r>
            <a:r>
              <a:rPr lang="ko-KR" altLang="ko-KR" sz="1800" dirty="0" err="1"/>
              <a:t>identifiziert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en-US" sz="1800" b="1" dirty="0" err="1"/>
              <a:t>Herausforderung</a:t>
            </a:r>
            <a:endParaRPr lang="en-US" sz="1800" b="1" dirty="0"/>
          </a:p>
          <a:p>
            <a:r>
              <a:rPr lang="ko-KR" altLang="ko-KR" sz="1800" dirty="0" err="1"/>
              <a:t>Hohe</a:t>
            </a:r>
            <a:r>
              <a:rPr lang="ko-KR" altLang="ko-KR" sz="1800" dirty="0"/>
              <a:t> </a:t>
            </a:r>
            <a:r>
              <a:rPr lang="ko-KR" altLang="ko-KR" sz="1800" dirty="0" err="1"/>
              <a:t>Rechenzeit</a:t>
            </a:r>
            <a:r>
              <a:rPr lang="ko-KR" altLang="ko-KR" sz="1800" dirty="0"/>
              <a:t> </a:t>
            </a:r>
            <a:r>
              <a:rPr lang="ko-KR" altLang="ko-KR" sz="1800" dirty="0" err="1"/>
              <a:t>bei</a:t>
            </a:r>
            <a:r>
              <a:rPr lang="ko-KR" altLang="ko-KR" sz="1800" dirty="0"/>
              <a:t> </a:t>
            </a:r>
            <a:r>
              <a:rPr lang="ko-KR" altLang="ko-KR" sz="1800" dirty="0" err="1"/>
              <a:t>Distanzberechnungen</a:t>
            </a:r>
            <a:endParaRPr lang="en-US" altLang="ko-KR" sz="1800" dirty="0"/>
          </a:p>
          <a:p>
            <a:r>
              <a:rPr lang="ko-KR" altLang="ko-KR" sz="1800" dirty="0"/>
              <a:t> </a:t>
            </a:r>
            <a:r>
              <a:rPr lang="ko-KR" altLang="ko-KR" sz="1800" dirty="0" err="1"/>
              <a:t>Optimierung</a:t>
            </a:r>
            <a:r>
              <a:rPr lang="ko-KR" altLang="ko-KR" sz="1800" dirty="0"/>
              <a:t> </a:t>
            </a:r>
            <a:r>
              <a:rPr lang="ko-KR" altLang="ko-KR" sz="1800" dirty="0" err="1"/>
              <a:t>der</a:t>
            </a:r>
            <a:r>
              <a:rPr lang="ko-KR" altLang="ko-KR" sz="1800" dirty="0"/>
              <a:t> </a:t>
            </a:r>
            <a:r>
              <a:rPr lang="ko-KR" altLang="ko-KR" sz="1800" dirty="0" err="1"/>
              <a:t>Pseudo-Absence-Generierung</a:t>
            </a:r>
            <a:endParaRPr lang="en-US" altLang="ko-KR" sz="1800" dirty="0"/>
          </a:p>
          <a:p>
            <a:r>
              <a:rPr lang="ko-KR" altLang="ko-KR" sz="1800" dirty="0"/>
              <a:t> </a:t>
            </a:r>
            <a:r>
              <a:rPr lang="ko-KR" altLang="ko-KR" sz="1800" dirty="0" err="1"/>
              <a:t>notwendig</a:t>
            </a:r>
            <a:r>
              <a:rPr lang="ko-KR" altLang="ko-KR" sz="1800" dirty="0"/>
              <a:t> </a:t>
            </a:r>
            <a:r>
              <a:rPr lang="ko-KR" altLang="ko-KR" sz="1800" dirty="0" err="1"/>
              <a:t>Abwägung</a:t>
            </a:r>
            <a:r>
              <a:rPr lang="ko-KR" altLang="ko-KR" sz="1800" dirty="0"/>
              <a:t> </a:t>
            </a:r>
            <a:r>
              <a:rPr lang="ko-KR" altLang="ko-KR" sz="1800" dirty="0" err="1"/>
              <a:t>zwischen</a:t>
            </a:r>
            <a:r>
              <a:rPr lang="ko-KR" altLang="ko-KR" sz="1800" dirty="0"/>
              <a:t> </a:t>
            </a:r>
            <a:r>
              <a:rPr lang="ko-KR" altLang="ko-KR" sz="1800" dirty="0" err="1"/>
              <a:t>Rasterauflösung</a:t>
            </a:r>
            <a:r>
              <a:rPr lang="ko-KR" altLang="ko-KR" sz="1800" dirty="0"/>
              <a:t> </a:t>
            </a:r>
            <a:r>
              <a:rPr lang="ko-KR" altLang="ko-KR" sz="1800" dirty="0" err="1"/>
              <a:t>und</a:t>
            </a:r>
            <a:r>
              <a:rPr lang="ko-KR" altLang="ko-KR" sz="1800" dirty="0"/>
              <a:t> </a:t>
            </a:r>
            <a:r>
              <a:rPr lang="ko-KR" altLang="ko-KR" sz="1800" dirty="0" err="1"/>
              <a:t>Rechenzeit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22553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9CC91-7F74-6828-C089-14BD527E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Ideen / Vorhaben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00E021-A602-8026-229A-7BB14E750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Modell-Alternativen:</a:t>
            </a:r>
            <a:r>
              <a:rPr lang="de-DE" dirty="0">
                <a:ea typeface="+mn-lt"/>
                <a:cs typeface="+mn-lt"/>
              </a:rPr>
              <a:t> Random Forest ist unser Basismodell. </a:t>
            </a:r>
            <a:r>
              <a:rPr lang="de-DE" dirty="0" err="1">
                <a:ea typeface="+mn-lt"/>
                <a:cs typeface="+mn-lt"/>
              </a:rPr>
              <a:t>MaxENT</a:t>
            </a:r>
            <a:r>
              <a:rPr lang="de-DE" dirty="0">
                <a:ea typeface="+mn-lt"/>
                <a:cs typeface="+mn-lt"/>
              </a:rPr>
              <a:t> ist in der archäologischen Fachliteratur weit verbreitet, da es rein mit </a:t>
            </a:r>
            <a:r>
              <a:rPr lang="de-DE" dirty="0" err="1">
                <a:ea typeface="+mn-lt"/>
                <a:cs typeface="+mn-lt"/>
              </a:rPr>
              <a:t>Presences</a:t>
            </a:r>
            <a:r>
              <a:rPr lang="de-DE" dirty="0">
                <a:ea typeface="+mn-lt"/>
                <a:cs typeface="+mn-lt"/>
              </a:rPr>
              <a:t> arbeitet. Beide parallel trainieren und die ROC-AUCs vergleichen.</a:t>
            </a:r>
          </a:p>
          <a:p>
            <a:r>
              <a:rPr lang="de-DE" b="1" dirty="0">
                <a:ea typeface="+mn-lt"/>
                <a:cs typeface="+mn-lt"/>
              </a:rPr>
              <a:t>Pseudo-</a:t>
            </a:r>
            <a:r>
              <a:rPr lang="de-DE" b="1" dirty="0" err="1">
                <a:ea typeface="+mn-lt"/>
                <a:cs typeface="+mn-lt"/>
              </a:rPr>
              <a:t>Absences</a:t>
            </a:r>
            <a:r>
              <a:rPr lang="de-DE" b="1" dirty="0">
                <a:ea typeface="+mn-lt"/>
                <a:cs typeface="+mn-lt"/>
              </a:rPr>
              <a:t> &amp; Bias:</a:t>
            </a:r>
            <a:r>
              <a:rPr lang="de-DE" dirty="0">
                <a:ea typeface="+mn-lt"/>
                <a:cs typeface="+mn-lt"/>
              </a:rPr>
              <a:t> Unsere Pseudo-</a:t>
            </a:r>
            <a:r>
              <a:rPr lang="de-DE" dirty="0" err="1">
                <a:ea typeface="+mn-lt"/>
                <a:cs typeface="+mn-lt"/>
              </a:rPr>
              <a:t>Absences</a:t>
            </a:r>
            <a:r>
              <a:rPr lang="de-DE" dirty="0">
                <a:ea typeface="+mn-lt"/>
                <a:cs typeface="+mn-lt"/>
              </a:rPr>
              <a:t> werden zufällig innerhalb Bayerns generiert. Stattdessen aus </a:t>
            </a:r>
            <a:r>
              <a:rPr lang="de-DE" i="1" dirty="0" err="1">
                <a:ea typeface="+mn-lt"/>
                <a:cs typeface="+mn-lt"/>
              </a:rPr>
              <a:t>sampling</a:t>
            </a:r>
            <a:r>
              <a:rPr lang="de-DE" i="1" dirty="0">
                <a:ea typeface="+mn-lt"/>
                <a:cs typeface="+mn-lt"/>
              </a:rPr>
              <a:t> </a:t>
            </a:r>
            <a:r>
              <a:rPr lang="de-DE" i="1" dirty="0" err="1">
                <a:ea typeface="+mn-lt"/>
                <a:cs typeface="+mn-lt"/>
              </a:rPr>
              <a:t>bias</a:t>
            </a:r>
            <a:r>
              <a:rPr lang="de-DE" i="1" dirty="0">
                <a:ea typeface="+mn-lt"/>
                <a:cs typeface="+mn-lt"/>
              </a:rPr>
              <a:t> </a:t>
            </a:r>
            <a:r>
              <a:rPr lang="de-DE" i="1" dirty="0" err="1">
                <a:ea typeface="+mn-lt"/>
                <a:cs typeface="+mn-lt"/>
              </a:rPr>
              <a:t>layer</a:t>
            </a:r>
            <a:r>
              <a:rPr lang="de-DE" dirty="0">
                <a:ea typeface="+mn-lt"/>
                <a:cs typeface="+mn-lt"/>
              </a:rPr>
              <a:t> ziehen, also aus Regionen, die ähnlich gut prospektiert wurden wie die Fundorte.</a:t>
            </a:r>
          </a:p>
          <a:p>
            <a:r>
              <a:rPr lang="de-DE" b="1" dirty="0">
                <a:ea typeface="+mn-lt"/>
                <a:cs typeface="+mn-lt"/>
              </a:rPr>
              <a:t>Raster-Auflösung vs. Rechenzeit:</a:t>
            </a:r>
            <a:r>
              <a:rPr lang="de-DE" dirty="0">
                <a:ea typeface="+mn-lt"/>
                <a:cs typeface="+mn-lt"/>
              </a:rPr>
              <a:t> Parallele Verarbeitung via </a:t>
            </a:r>
            <a:r>
              <a:rPr lang="de-DE" dirty="0" err="1">
                <a:latin typeface="Consolas"/>
              </a:rPr>
              <a:t>future</a:t>
            </a:r>
            <a:r>
              <a:rPr lang="de-DE" dirty="0">
                <a:ea typeface="+mn-lt"/>
                <a:cs typeface="+mn-lt"/>
              </a:rPr>
              <a:t>/</a:t>
            </a:r>
            <a:r>
              <a:rPr lang="de-DE" dirty="0">
                <a:latin typeface="Consolas"/>
              </a:rPr>
              <a:t>parallel</a:t>
            </a:r>
            <a:r>
              <a:rPr lang="de-DE" dirty="0">
                <a:latin typeface="Consolas"/>
                <a:ea typeface="+mn-lt"/>
                <a:cs typeface="+mn-lt"/>
              </a:rPr>
              <a:t>,</a:t>
            </a:r>
            <a:r>
              <a:rPr lang="de-DE" dirty="0">
                <a:ea typeface="+mn-lt"/>
                <a:cs typeface="+mn-lt"/>
              </a:rPr>
              <a:t> für bessere Auflösung.</a:t>
            </a: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94566555-5BEA-FF9A-5B46-232C43AAE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3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CCAC-A6CA-926E-A14B-7A26D7646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4E44F-BAA7-C705-8E78-FF6CC3A9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Ideen / Vorhaben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7B4579-4EA3-C3CB-B6ED-C12366A65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MSQR als Prädiktor / historische Validität:</a:t>
            </a:r>
            <a:r>
              <a:rPr lang="de-DE" dirty="0">
                <a:ea typeface="+mn-lt"/>
                <a:cs typeface="+mn-lt"/>
              </a:rPr>
              <a:t> Das Müncheberg Soil Quality Rating bewertet Böden nach modernen landwirtschaftlichen Maßstäben. Bodenparameter finden, die für die Eisenzeit spezifisch relevanter wären, z.B. Drainageverhältnisse oder Humusgehalt.</a:t>
            </a:r>
          </a:p>
          <a:p>
            <a:r>
              <a:rPr lang="ko-KR" altLang="ko-KR" dirty="0" err="1"/>
              <a:t>Prüfung</a:t>
            </a:r>
            <a:r>
              <a:rPr lang="ko-KR" altLang="ko-KR" dirty="0"/>
              <a:t> </a:t>
            </a:r>
            <a:r>
              <a:rPr lang="ko-KR" altLang="ko-KR" dirty="0" err="1"/>
              <a:t>zusätzlicher</a:t>
            </a:r>
            <a:r>
              <a:rPr lang="ko-KR" altLang="ko-KR" dirty="0"/>
              <a:t> </a:t>
            </a:r>
            <a:r>
              <a:rPr lang="ko-KR" altLang="ko-KR" dirty="0" err="1"/>
              <a:t>Umwelt</a:t>
            </a:r>
            <a:r>
              <a:rPr lang="ko-KR" altLang="ko-KR" dirty="0"/>
              <a:t>- </a:t>
            </a:r>
            <a:r>
              <a:rPr lang="ko-KR" altLang="ko-KR" dirty="0" err="1"/>
              <a:t>und</a:t>
            </a:r>
            <a:r>
              <a:rPr lang="ko-KR" altLang="ko-KR" dirty="0"/>
              <a:t> </a:t>
            </a:r>
            <a:r>
              <a:rPr lang="ko-KR" altLang="ko-KR" dirty="0" err="1"/>
              <a:t>Landschaftsvariablen</a:t>
            </a:r>
            <a:r>
              <a:rPr lang="ko-KR" altLang="ko-KR" dirty="0"/>
              <a:t> </a:t>
            </a:r>
            <a:r>
              <a:rPr lang="ko-KR" altLang="ko-KR" dirty="0" err="1"/>
              <a:t>aus</a:t>
            </a:r>
            <a:r>
              <a:rPr lang="ko-KR" altLang="ko-KR" dirty="0"/>
              <a:t> </a:t>
            </a:r>
            <a:r>
              <a:rPr lang="ko-KR" altLang="ko-KR" dirty="0" err="1"/>
              <a:t>dem</a:t>
            </a:r>
            <a:r>
              <a:rPr lang="ko-KR" altLang="ko-KR" dirty="0"/>
              <a:t> </a:t>
            </a:r>
            <a:r>
              <a:rPr lang="ko-KR" altLang="ko-KR" b="1" dirty="0" err="1"/>
              <a:t>BayernAtlas</a:t>
            </a:r>
            <a:r>
              <a:rPr lang="de-DE" dirty="0">
                <a:ea typeface="+mn-lt"/>
                <a:cs typeface="+mn-lt"/>
              </a:rPr>
              <a:t>(https://atlas.bayern.de)</a:t>
            </a:r>
          </a:p>
          <a:p>
            <a:endParaRPr lang="de-DE" dirty="0">
              <a:ea typeface="+mn-lt"/>
              <a:cs typeface="+mn-lt"/>
            </a:endParaRP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8A96E047-31FD-1F38-EEB0-6ACE11288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0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002BD1-A00D-877A-DBA0-E1F115BD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7779"/>
            <a:ext cx="10515600" cy="1325563"/>
          </a:xfrm>
        </p:spPr>
        <p:txBody>
          <a:bodyPr/>
          <a:lstStyle/>
          <a:p>
            <a:pPr algn="ctr"/>
            <a:r>
              <a:rPr lang="de-DE" altLang="ko-KR"/>
              <a:t>Vielen Dank!</a:t>
            </a:r>
            <a:endParaRPr lang="ko-KR" altLang="en-US" dirty="0"/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BE5DB1C8-3685-D8F5-FDE4-7F50A841F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22230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318</Words>
  <Application>Microsoft Office PowerPoint</Application>
  <PresentationFormat>Breitbild</PresentationFormat>
  <Paragraphs>40</Paragraphs>
  <Slides>9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0" baseType="lpstr">
      <vt:lpstr>Larissa</vt:lpstr>
      <vt:lpstr>Data Challenges - Zwischenpräsentation</vt:lpstr>
      <vt:lpstr>Thema: Predictive Modelling</vt:lpstr>
      <vt:lpstr>Vorgehen</vt:lpstr>
      <vt:lpstr>Zeitplan</vt:lpstr>
      <vt:lpstr>R Skript Aufbau</vt:lpstr>
      <vt:lpstr>Erste Versuche</vt:lpstr>
      <vt:lpstr>Ideen / Vorhaben</vt:lpstr>
      <vt:lpstr>Ideen / Vorhaben</vt:lpstr>
      <vt:lpstr>Vielen Dank!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tkof6kkmo0@goetheuniversitaet.onmicrosoft.com</cp:lastModifiedBy>
  <cp:revision>179</cp:revision>
  <dcterms:created xsi:type="dcterms:W3CDTF">2026-06-03T16:23:37Z</dcterms:created>
  <dcterms:modified xsi:type="dcterms:W3CDTF">2026-06-09T18:08:09Z</dcterms:modified>
</cp:coreProperties>
</file>